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Graduate Business Intelligence lecture. Presenter: Jason J. Jung, Chung-Ang University. Cover illustration: AI-generated conceptual artwork.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research questions, not claims of measured cultural effects. Country comparisons are observational and confounded by platform access, popularity and demographics.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operational definitions. Distinguish domain adaptation across country groups from recommending places during international travel. A country or language label is an imperfect proxy for culture.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policy supplied by the instructor. Dataset terms remain binding. Example: Booking.com MDT Terms and Conditions prohibit commercial reuse and harmful or competitive uses. Source: https://github.com/bookingcom/ml-dataset-mdt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https://sites.google.com/site/yangdingqi/home/foursquare-dataset</a:t>
            </a:r>
          </a:p>
          <a:p>
            <a:r>
              <a:t>https://ocelma.net/MusicRecommendationDataset/lastfm-1K.html</a:t>
            </a:r>
          </a:p>
          <a:p>
            <a:r>
              <a:t>https://ocelma.net/MusicRecommendationDataset/lastfm-360K.html</a:t>
            </a:r>
          </a:p>
          <a:p>
            <a:r>
              <a:t>https://www.amazon.science/publications/the-multilingual-amazon-reviews-corpus</a:t>
            </a:r>
          </a:p>
          <a:p>
            <a:r>
              <a:t>https://huggingface.co/datasets/defunct-datasets/amazon_reviews_multi</a:t>
            </a:r>
          </a:p>
          <a:p>
            <a:r>
              <a:t>https://github.com/bookingcom/ml-dataset-mdt</a:t>
            </a:r>
          </a:p>
          <a:p>
            <a:r>
              <a:t>https://snap.stanford.edu/data/loc-gowalla.html</a:t>
            </a:r>
          </a:p>
          <a:p>
            <a:r>
              <a:t>https://snap.stanford.edu/data/loc-brightkite.html</a:t>
            </a:r>
          </a:p>
          <a:p>
            <a:r>
              <a:t>https://www.worldvaluessurvey.org/WVSDocumentationWV7.jsp</a:t>
            </a:r>
          </a:p>
          <a:p>
            <a:r>
              <a:t>https://arxiv.org/abs/1205.2618</a:t>
            </a:r>
          </a:p>
          <a:p>
            <a:r>
              <a:t>Verify file access and the applicable terms before choosing a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Dingqi Yang global-scale dataset, April 2012–September 2013. 33,278,683 check-ins, 266,909 users, 3,680,126 venues, 415 cities, 77 countries. Dataset variants differ, so record the exact release. Source: https://sites.google.com/site/yangdingqi/home/foursquare-dataset</a:t>
            </a:r>
          </a:p>
          <a:p>
            <a:r>
              <a:t>Home-country estimation and threshold choices are proposed preprocessing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Òscar Celma, Music Recommendation and Discovery, Springer, 2010. Historical 1K and 360K datasets. Original source pages: https://ocelma.net/MusicRecommendationDataset/lastfm-1K.html</a:t>
            </a:r>
          </a:p>
          <a:p>
            <a:r>
              <a:t>https://ocelma.net/MusicRecommendationDataset/lastfm-360K.html</a:t>
            </a:r>
          </a:p>
          <a:p>
            <a:r>
              <a:t>The source pages timed out during preparation. Verify current hosting and dataset permissions before assigning downloads. 1K offers timestamped listening history. 360K provides user–artist play counts and profiles.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Keung et al. 2020, The Multilingual Amazon Reviews Corpus. Source: https://www.amazon.science/publications/the-multilingual-amazon-reviews-corpus</a:t>
            </a:r>
          </a:p>
          <a:p>
            <a:r>
              <a:t>Access status and historical terms: https://huggingface.co/datasets/defunct-datasets/amazon_reviews_multi</a:t>
            </a:r>
          </a:p>
          <a:p>
            <a:r>
              <a:t>The original corpus targets multilingual classification, has balanced ratings and sparse reviewer/product histories. Recommendation validity requires a separate assessment.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Goldenberg and Levin, 2021, Booking.com Multi-Destination Trips Dataset, SIGIR. Repository: https://github.com/bookingcom/ml-dataset-mdt</a:t>
            </a:r>
          </a:p>
          <a:p>
            <a:r>
              <a:t>Training has 1,166,835 reservations. Countries and city IDs are anonymized. Terms prohibit commercial reuse, harmful or competitive uses, and uses violating law or regulation. Interpret booker_country as reservation origin, not nationality.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SNAP sources: https://snap.stanford.edu/data/loc-gowalla.html</a:t>
            </a:r>
          </a:p>
          <a:p>
            <a:r>
              <a:t>https://snap.stanford.edu/data/loc-brightkite.html</a:t>
            </a:r>
          </a:p>
          <a:p>
            <a:r>
              <a:t>Cho, Myers and Leskovec, 2011, Friendship and Mobility: User Movement in Location-Based Social Networks, KDD. These historical datasets contain social networks and check-ins. Country labels require geographical derivation and do not identify culture.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Wave 7 (2017–2022) documentation: https://www.worldvaluessurvey.org/WVSDocumentationWV7.jsp</a:t>
            </a:r>
          </a:p>
          <a:p>
            <a:r>
              <a:t>Use the questionnaire, codebook, weighting guidance and release-specific citation. Suggested country aggregates are a research design, not official WVS cultural scores. Earlier waves may better align with older behavior logs. Avoid attributing aggregate country attitudes to an individual.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analytical design. Join behavioral users through verified profile country or a documented residence estimate to country aggregates. Do not join WVS respondents directly to platform users. WVS source: https://www.worldvaluessurvey.org/WVSDocumentationWV7.jsp</a:t>
            </a:r>
          </a:p>
          <a:p>
            <a:r>
              <a:t>Booking.com anonymous codes and Amazon language labels do not support a verified ISO country join.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workflow. Minimum-history thresholds must fit the available country samples. Freeze mappings, filtering thresholds, home-country estimates, normalization and embedding fitting before evaluating held-out labels. Exclude sensitive fields unless needed and justified.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course baselines and extensions. BPR source: Rendle et al., BPR: Bayesian Personalized Ranking from Implicit Feedback, UAI 2009. https://arxiv.org/abs/1205.2618</a:t>
            </a:r>
          </a:p>
          <a:p>
            <a:r>
              <a:t>A hybrid ranker can add country features and country–item interactions. Test whether they help after controlling for country popularity and interaction volume.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evaluation design. For disjoint users, plain collaborative filtering has no target user factor in a zero-shot setting. Few-shot target histories or an inductive encoder must support personalization. Country covariates require sufficient countries for a meaningful test. Do not use test results for model selection.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Definitions use binary relevance and exclude users with no held-out positives from user averages, while reporting excluded counts. Recall@K = |TopK(u) ∩ R(u)| / |R(u)|. DCG@K = sum over r=1..K of rel(r)/log2(r+1). NDCG = DCG/ideal DCG. Item coverage = union of recommended items / eligible item catalog. Worked example is synthetic, not 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project choices, not mandated datasets or grading rules. Confirm permissions, file access and sufficient country coverage before committing. Last.fm page availability needs checking. Foursquare requires careful residence estimation and target geography. Booking.com supports anonymous group comparisons without WVS.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Submission requirements supplied by the instructor. Schedule and deadlines will be discussed in class. Submit a Word report (DOC or DOCX) covering the topic, hypothesis, scenario, datasets used, analysis results and evaluation. Submit the source code or notebooks with a README, dependency/environment details, data preparation and execution instructions, and result files. Cite datasets and document licenses and terms. Provide data access instructions and redistribute data only when the applicable terms allow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are linked below and in individual slide notes. Source pages reviewed October 12, 2026. The submission requirements appear on the preceding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1E2CDE-B8CE-42FB-AFA9-CE1DB9D1AD0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A33FC608-AA09-49D8-BC86-60B792727A2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4A6AD23-E86F-4EE3-8626-E7721C7BDDC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7D08A1-BF72-4949-AC6A-B213C3C68CD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0D66640-CCD9-4E44-9B0F-8E003828C98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F3CFE49-D25D-43D8-825E-393A4DE3DE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20B38BB-B2AE-40C9-8F65-5EBA88CAF7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BEC5CFB-E6A1-4401-B764-F917E8816D2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30B37F-C741-427F-9FB8-691ABD84449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EC33248-15E2-4B48-863E-51575157A2E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sites.google.com/site/yangdingqi/home/foursquare-dataset"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ocelma.net/MusicRecommendationDataset/lastfm-1K.html"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hyperlink" Target="https://ocelma.net/MusicRecommendationDataset/lastfm-360K.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amazon.science/publications/the-multilingual-amazon-reviews-corpus"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huggingface.co/datasets/defunct-datasets/amazon_reviews_multi"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bookingcom/ml-dataset-mdt"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snap.stanford.edu/data/loc-gowalla.html"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hyperlink" Target="https://snap.stanford.edu/data/loc-brightkite.htm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worldvaluessurvey.org/WVSDocumentationWV7.jsp"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1205.2618"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hyperlink" Target="https://snap.stanford.edu/data/loc-gowalla.html" TargetMode="External"/><Relationship Id="rId3" Type="http://schemas.openxmlformats.org/officeDocument/2006/relationships/hyperlink" Target="https://sites.google.com/site/yangdingqi/home/foursquare-dataset" TargetMode="External"/><Relationship Id="rId7" Type="http://schemas.openxmlformats.org/officeDocument/2006/relationships/hyperlink" Target="https://github.com/bookingcom/ml-dataset-mdt"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huggingface.co/datasets/defunct-datasets/amazon_reviews_multi" TargetMode="External"/><Relationship Id="rId11" Type="http://schemas.openxmlformats.org/officeDocument/2006/relationships/hyperlink" Target="https://snap.stanford.edu/data/loc-brightkite.html" TargetMode="External"/><Relationship Id="rId5" Type="http://schemas.openxmlformats.org/officeDocument/2006/relationships/hyperlink" Target="https://www.amazon.science/publications/the-multilingual-amazon-reviews-corpus" TargetMode="External"/><Relationship Id="rId10" Type="http://schemas.openxmlformats.org/officeDocument/2006/relationships/hyperlink" Target="https://arxiv.org/abs/1205.2618" TargetMode="External"/><Relationship Id="rId4" Type="http://schemas.openxmlformats.org/officeDocument/2006/relationships/hyperlink" Target="https://ocelma.net/MusicRecommendationDataset/lastfm-1K.html" TargetMode="External"/><Relationship Id="rId9" Type="http://schemas.openxmlformats.org/officeDocument/2006/relationships/hyperlink" Target="https://www.worldvaluessurvey.org/WVSDocumentationWV7.j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8"/>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E5DAC9D1-ACBC-4E4E-839A-6BA2DC0DF598}"/>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endParaRPr/>
          </a:p>
        </p:txBody>
      </p:sp>
      <p:sp>
        <p:nvSpPr>
          <p:cNvPr id="2" name="직사각형 1">
            <a:extLst>
              <a:ext uri="{FF2B5EF4-FFF2-40B4-BE49-F238E27FC236}">
                <a16:creationId xmlns:a16="http://schemas.microsoft.com/office/drawing/2014/main" id="{63994D90-8517-4DB4-8F66-513E5C498987}"/>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01</a:t>
            </a:r>
          </a:p>
        </p:txBody>
      </p:sp>
      <p:pic>
        <p:nvPicPr>
          <p:cNvPr id="3" name="그림 2">
            <a:extLst>
              <a:ext uri="{FF2B5EF4-FFF2-40B4-BE49-F238E27FC236}">
                <a16:creationId xmlns:a16="http://schemas.microsoft.com/office/drawing/2014/main" id="{7865D3E2-7FA5-4A7E-8A1A-5F6B6C4225BF}"/>
              </a:ext>
            </a:extLst>
          </p:cNvPr>
          <p:cNvPicPr>
            <a:picLocks noChangeAspect="1"/>
          </p:cNvPicPr>
          <p:nvPr/>
        </p:nvPicPr>
        <p:blipFill>
          <a:blip r:embed="rId3"/>
          <a:srcRect l="5556" r="5556"/>
          <a:stretch>
            <a:fillRect/>
          </a:stretch>
        </p:blipFill>
        <p:spPr>
          <a:xfrm>
            <a:off x="7620000" y="0"/>
            <a:ext cx="4572000" cy="6858000"/>
          </a:xfrm>
          <a:prstGeom prst="rect">
            <a:avLst/>
          </a:prstGeom>
        </p:spPr>
      </p:pic>
      <p:sp>
        <p:nvSpPr>
          <p:cNvPr id="4" name="직사각형 3">
            <a:extLst>
              <a:ext uri="{FF2B5EF4-FFF2-40B4-BE49-F238E27FC236}">
                <a16:creationId xmlns:a16="http://schemas.microsoft.com/office/drawing/2014/main" id="{0C12DB7C-96BF-44C5-94F8-E368498B26F8}"/>
              </a:ext>
            </a:extLst>
          </p:cNvPr>
          <p:cNvSpPr>
            <a:spLocks noGrp="1"/>
          </p:cNvSpPr>
          <p:nvPr/>
        </p:nvSpPr>
        <p:spPr>
          <a:xfrm>
            <a:off x="609600" y="1104900"/>
            <a:ext cx="6953250" cy="2514600"/>
          </a:xfrm>
          <a:prstGeom prst="rect">
            <a:avLst/>
          </a:prstGeom>
          <a:noFill/>
          <a:ln w="0">
            <a:noFill/>
          </a:ln>
        </p:spPr>
        <p:txBody>
          <a:bodyPr lIns="0" tIns="0" rIns="0" bIns="0" anchor="t"/>
          <a:lstStyle>
            <a:defPPr>
              <a:defRPr sz="4500" b="1">
                <a:solidFill>
                  <a:srgbClr val="FFFFFF"/>
                </a:solidFill>
                <a:latin typeface="Aptos"/>
                <a:ea typeface="Aptos"/>
                <a:cs typeface="Aptos"/>
              </a:defRPr>
            </a:defPPr>
          </a:lstStyle>
          <a:p>
            <a:pPr>
              <a:defRPr sz="4500" b="1">
                <a:solidFill>
                  <a:srgbClr val="FFFFFF"/>
                </a:solidFill>
                <a:latin typeface="Aptos"/>
                <a:ea typeface="Aptos"/>
                <a:cs typeface="Aptos"/>
              </a:defRPr>
            </a:pPr>
            <a:r>
              <a:rPr sz="4500" b="1">
                <a:solidFill>
                  <a:srgbClr val="FFFFFF"/>
                </a:solidFill>
                <a:latin typeface="Aptos"/>
                <a:ea typeface="Aptos"/>
                <a:cs typeface="Aptos"/>
              </a:rPr>
              <a:t>Cross-Cultural</a:t>
            </a:r>
          </a:p>
          <a:p>
            <a:pPr>
              <a:defRPr sz="4500" b="1">
                <a:solidFill>
                  <a:srgbClr val="FFFFFF"/>
                </a:solidFill>
                <a:latin typeface="Aptos"/>
                <a:ea typeface="Aptos"/>
                <a:cs typeface="Aptos"/>
              </a:defRPr>
            </a:pPr>
            <a:r>
              <a:rPr sz="4500" b="1">
                <a:solidFill>
                  <a:srgbClr val="FFFFFF"/>
                </a:solidFill>
                <a:latin typeface="Aptos"/>
                <a:ea typeface="Aptos"/>
                <a:cs typeface="Aptos"/>
              </a:rPr>
              <a:t>Recommendation</a:t>
            </a:r>
          </a:p>
          <a:p>
            <a:pPr>
              <a:defRPr sz="4500" b="1">
                <a:solidFill>
                  <a:srgbClr val="FFFFFF"/>
                </a:solidFill>
                <a:latin typeface="Aptos"/>
                <a:ea typeface="Aptos"/>
                <a:cs typeface="Aptos"/>
              </a:defRPr>
            </a:pPr>
            <a:r>
              <a:rPr sz="4500" b="1">
                <a:solidFill>
                  <a:srgbClr val="FFFFFF"/>
                </a:solidFill>
                <a:latin typeface="Aptos"/>
                <a:ea typeface="Aptos"/>
                <a:cs typeface="Aptos"/>
              </a:rPr>
              <a:t>Systems</a:t>
            </a:r>
          </a:p>
        </p:txBody>
      </p:sp>
      <p:sp>
        <p:nvSpPr>
          <p:cNvPr id="5" name="직사각형 4">
            <a:extLst>
              <a:ext uri="{FF2B5EF4-FFF2-40B4-BE49-F238E27FC236}">
                <a16:creationId xmlns:a16="http://schemas.microsoft.com/office/drawing/2014/main" id="{61B6C607-D6E6-412B-A0C9-9B6F00FF7E27}"/>
              </a:ext>
            </a:extLst>
          </p:cNvPr>
          <p:cNvSpPr>
            <a:spLocks noGrp="1"/>
          </p:cNvSpPr>
          <p:nvPr/>
        </p:nvSpPr>
        <p:spPr>
          <a:xfrm>
            <a:off x="609600" y="3895725"/>
            <a:ext cx="6715125" cy="533400"/>
          </a:xfrm>
          <a:prstGeom prst="rect">
            <a:avLst/>
          </a:prstGeom>
          <a:noFill/>
          <a:ln w="0">
            <a:noFill/>
          </a:ln>
        </p:spPr>
        <p:txBody>
          <a:bodyPr lIns="0" tIns="0" rIns="0" bIns="0" anchor="t"/>
          <a:lstStyle>
            <a:defPPr>
              <a:defRPr sz="2550" b="0">
                <a:solidFill>
                  <a:srgbClr val="65D3CD"/>
                </a:solidFill>
                <a:latin typeface="Aptos"/>
                <a:ea typeface="Aptos"/>
                <a:cs typeface="Aptos"/>
              </a:defRPr>
            </a:defPPr>
          </a:lstStyle>
          <a:p>
            <a:pPr>
              <a:defRPr sz="2550" b="0">
                <a:solidFill>
                  <a:srgbClr val="65D3CD"/>
                </a:solidFill>
                <a:latin typeface="Aptos"/>
                <a:ea typeface="Aptos"/>
                <a:cs typeface="Aptos"/>
              </a:defRPr>
            </a:pPr>
            <a:r>
              <a:rPr sz="2550" b="0">
                <a:solidFill>
                  <a:srgbClr val="65D3CD"/>
                </a:solidFill>
                <a:latin typeface="Aptos"/>
                <a:ea typeface="Aptos"/>
                <a:cs typeface="Aptos"/>
              </a:rPr>
              <a:t>Using Public Datasets</a:t>
            </a:r>
          </a:p>
        </p:txBody>
      </p:sp>
      <p:sp>
        <p:nvSpPr>
          <p:cNvPr id="6" name="직사각형 5">
            <a:extLst>
              <a:ext uri="{FF2B5EF4-FFF2-40B4-BE49-F238E27FC236}">
                <a16:creationId xmlns:a16="http://schemas.microsoft.com/office/drawing/2014/main" id="{F37B9CDD-BBE2-4CDD-8135-99E7D6459E46}"/>
              </a:ext>
            </a:extLst>
          </p:cNvPr>
          <p:cNvSpPr>
            <a:spLocks noGrp="1"/>
          </p:cNvSpPr>
          <p:nvPr/>
        </p:nvSpPr>
        <p:spPr>
          <a:xfrm>
            <a:off x="609600" y="5276850"/>
            <a:ext cx="6381750" cy="838200"/>
          </a:xfrm>
          <a:prstGeom prst="rect">
            <a:avLst/>
          </a:prstGeom>
          <a:noFill/>
          <a:ln w="0">
            <a:noFill/>
          </a:ln>
        </p:spPr>
        <p:txBody>
          <a:bodyPr lIns="0" tIns="0" rIns="0" bIns="0" anchor="t"/>
          <a:lstStyle>
            <a:defPPr>
              <a:defRPr sz="1950" b="0">
                <a:solidFill>
                  <a:srgbClr val="FFFFFF"/>
                </a:solidFill>
                <a:latin typeface="Aptos"/>
                <a:ea typeface="Aptos"/>
                <a:cs typeface="Aptos"/>
              </a:defRPr>
            </a:defPPr>
          </a:lstStyle>
          <a:p>
            <a:pPr>
              <a:defRPr sz="1950" b="0">
                <a:solidFill>
                  <a:srgbClr val="FFFFFF"/>
                </a:solidFill>
                <a:latin typeface="Aptos"/>
                <a:ea typeface="Aptos"/>
                <a:cs typeface="Aptos"/>
              </a:defRPr>
            </a:pPr>
            <a:r>
              <a:rPr sz="1950" b="0">
                <a:solidFill>
                  <a:srgbClr val="FFFFFF"/>
                </a:solidFill>
                <a:latin typeface="Aptos"/>
                <a:ea typeface="Aptos"/>
                <a:cs typeface="Aptos"/>
              </a:rPr>
              <a:t>Jason J. Jung</a:t>
            </a:r>
          </a:p>
          <a:p>
            <a:pPr>
              <a:defRPr sz="1950" b="0">
                <a:solidFill>
                  <a:srgbClr val="FFFFFF"/>
                </a:solidFill>
                <a:latin typeface="Aptos"/>
                <a:ea typeface="Aptos"/>
                <a:cs typeface="Aptos"/>
              </a:defRPr>
            </a:pPr>
            <a:r>
              <a:rPr sz="1950" b="0">
                <a:solidFill>
                  <a:srgbClr val="FFFFFF"/>
                </a:solidFill>
                <a:latin typeface="Aptos"/>
                <a:ea typeface="Aptos"/>
                <a:cs typeface="Aptos"/>
              </a:rPr>
              <a:t>Chung-Ang University</a:t>
            </a:r>
          </a:p>
        </p:txBody>
      </p:sp>
    </p:spTree>
    <p:extLst>
      <p:ext uri="{BB962C8B-B14F-4D97-AF65-F5344CB8AC3E}">
        <p14:creationId xmlns:p14="http://schemas.microsoft.com/office/powerpoint/2010/main" val="188165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50EAE041-BAE2-433B-9DD2-CDB932B28A2A}"/>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Research motivation</a:t>
            </a:r>
          </a:p>
        </p:txBody>
      </p:sp>
      <p:sp>
        <p:nvSpPr>
          <p:cNvPr id="2" name="직사각형 1">
            <a:extLst>
              <a:ext uri="{FF2B5EF4-FFF2-40B4-BE49-F238E27FC236}">
                <a16:creationId xmlns:a16="http://schemas.microsoft.com/office/drawing/2014/main" id="{3F08949E-887A-470C-AA0A-6FD4A6D5C86B}"/>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02</a:t>
            </a:r>
          </a:p>
        </p:txBody>
      </p:sp>
      <p:sp>
        <p:nvSpPr>
          <p:cNvPr id="3" name="직사각형 2">
            <a:extLst>
              <a:ext uri="{FF2B5EF4-FFF2-40B4-BE49-F238E27FC236}">
                <a16:creationId xmlns:a16="http://schemas.microsoft.com/office/drawing/2014/main" id="{49A25D71-6DD3-40CB-B728-91BBBDB64BB3}"/>
              </a:ext>
            </a:extLst>
          </p:cNvPr>
          <p:cNvSpPr>
            <a:spLocks noGrp="1"/>
          </p:cNvSpPr>
          <p:nvPr/>
        </p:nvSpPr>
        <p:spPr>
          <a:xfrm>
            <a:off x="609600" y="1571625"/>
            <a:ext cx="10668000" cy="1076325"/>
          </a:xfrm>
          <a:prstGeom prst="rect">
            <a:avLst/>
          </a:prstGeom>
          <a:noFill/>
          <a:ln w="0">
            <a:noFill/>
          </a:ln>
        </p:spPr>
        <p:txBody>
          <a:bodyPr lIns="0" tIns="0" rIns="0" bIns="0" anchor="t"/>
          <a:lstStyle>
            <a:defPPr>
              <a:defRPr sz="2850" b="1">
                <a:solidFill>
                  <a:srgbClr val="007F83"/>
                </a:solidFill>
                <a:latin typeface="Aptos"/>
                <a:ea typeface="Aptos"/>
                <a:cs typeface="Aptos"/>
              </a:defRPr>
            </a:defPPr>
          </a:lstStyle>
          <a:p>
            <a:pPr>
              <a:defRPr sz="2850" b="1">
                <a:solidFill>
                  <a:srgbClr val="007F83"/>
                </a:solidFill>
                <a:latin typeface="Aptos"/>
                <a:ea typeface="Aptos"/>
                <a:cs typeface="Aptos"/>
              </a:defRPr>
            </a:pPr>
            <a:r>
              <a:rPr sz="2850" b="1">
                <a:solidFill>
                  <a:srgbClr val="007F83"/>
                </a:solidFill>
                <a:latin typeface="Aptos"/>
                <a:ea typeface="Aptos"/>
                <a:cs typeface="Aptos"/>
              </a:rPr>
              <a:t>Can behavior learned in one country improve</a:t>
            </a:r>
          </a:p>
          <a:p>
            <a:pPr>
              <a:defRPr sz="2850" b="1">
                <a:solidFill>
                  <a:srgbClr val="007F83"/>
                </a:solidFill>
                <a:latin typeface="Aptos"/>
                <a:ea typeface="Aptos"/>
                <a:cs typeface="Aptos"/>
              </a:defRPr>
            </a:pPr>
            <a:r>
              <a:rPr sz="2850" b="1">
                <a:solidFill>
                  <a:srgbClr val="007F83"/>
                </a:solidFill>
                <a:latin typeface="Aptos"/>
                <a:ea typeface="Aptos"/>
                <a:cs typeface="Aptos"/>
              </a:rPr>
              <a:t>recommendations in another?</a:t>
            </a:r>
          </a:p>
        </p:txBody>
      </p:sp>
      <p:sp>
        <p:nvSpPr>
          <p:cNvPr id="4" name="직사각형 3">
            <a:extLst>
              <a:ext uri="{FF2B5EF4-FFF2-40B4-BE49-F238E27FC236}">
                <a16:creationId xmlns:a16="http://schemas.microsoft.com/office/drawing/2014/main" id="{B5DC4053-E80C-43B7-B2EF-CD8853167430}"/>
              </a:ext>
            </a:extLst>
          </p:cNvPr>
          <p:cNvSpPr>
            <a:spLocks noGrp="1"/>
          </p:cNvSpPr>
          <p:nvPr/>
        </p:nvSpPr>
        <p:spPr>
          <a:xfrm>
            <a:off x="609600" y="29527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Business problem</a:t>
            </a:r>
          </a:p>
        </p:txBody>
      </p:sp>
      <p:sp>
        <p:nvSpPr>
          <p:cNvPr id="5" name="직사각형 4">
            <a:extLst>
              <a:ext uri="{FF2B5EF4-FFF2-40B4-BE49-F238E27FC236}">
                <a16:creationId xmlns:a16="http://schemas.microsoft.com/office/drawing/2014/main" id="{542025D4-4492-49C4-AD6A-CDCD82C9DBEC}"/>
              </a:ext>
            </a:extLst>
          </p:cNvPr>
          <p:cNvSpPr>
            <a:spLocks noGrp="1"/>
          </p:cNvSpPr>
          <p:nvPr/>
        </p:nvSpPr>
        <p:spPr>
          <a:xfrm>
            <a:off x="3781425" y="29527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A service enters a new market with limited interaction history.</a:t>
            </a:r>
          </a:p>
        </p:txBody>
      </p:sp>
      <p:sp>
        <p:nvSpPr>
          <p:cNvPr id="6" name="직사각형 5">
            <a:extLst>
              <a:ext uri="{FF2B5EF4-FFF2-40B4-BE49-F238E27FC236}">
                <a16:creationId xmlns:a16="http://schemas.microsoft.com/office/drawing/2014/main" id="{DBDC7688-6EAD-4ED6-95E1-25CCE8517688}"/>
              </a:ext>
            </a:extLst>
          </p:cNvPr>
          <p:cNvSpPr>
            <a:spLocks noGrp="1"/>
          </p:cNvSpPr>
          <p:nvPr/>
        </p:nvSpPr>
        <p:spPr>
          <a:xfrm>
            <a:off x="609600" y="39338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Research hypothesis</a:t>
            </a:r>
          </a:p>
        </p:txBody>
      </p:sp>
      <p:sp>
        <p:nvSpPr>
          <p:cNvPr id="7" name="직사각형 6">
            <a:extLst>
              <a:ext uri="{FF2B5EF4-FFF2-40B4-BE49-F238E27FC236}">
                <a16:creationId xmlns:a16="http://schemas.microsoft.com/office/drawing/2014/main" id="{C66C0D29-79CB-4108-A726-500257E79EBF}"/>
              </a:ext>
            </a:extLst>
          </p:cNvPr>
          <p:cNvSpPr>
            <a:spLocks noGrp="1"/>
          </p:cNvSpPr>
          <p:nvPr/>
        </p:nvSpPr>
        <p:spPr>
          <a:xfrm>
            <a:off x="3781425" y="39338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Shared item knowledge may help. Cultural context may add value.</a:t>
            </a:r>
          </a:p>
        </p:txBody>
      </p:sp>
      <p:sp>
        <p:nvSpPr>
          <p:cNvPr id="8" name="직사각형 7">
            <a:extLst>
              <a:ext uri="{FF2B5EF4-FFF2-40B4-BE49-F238E27FC236}">
                <a16:creationId xmlns:a16="http://schemas.microsoft.com/office/drawing/2014/main" id="{99297CAB-DA36-4B00-8C5A-8AECF15B9CEE}"/>
              </a:ext>
            </a:extLst>
          </p:cNvPr>
          <p:cNvSpPr>
            <a:spLocks noGrp="1"/>
          </p:cNvSpPr>
          <p:nvPr/>
        </p:nvSpPr>
        <p:spPr>
          <a:xfrm>
            <a:off x="609600" y="49149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BI contribution</a:t>
            </a:r>
          </a:p>
        </p:txBody>
      </p:sp>
      <p:sp>
        <p:nvSpPr>
          <p:cNvPr id="9" name="직사각형 8">
            <a:extLst>
              <a:ext uri="{FF2B5EF4-FFF2-40B4-BE49-F238E27FC236}">
                <a16:creationId xmlns:a16="http://schemas.microsoft.com/office/drawing/2014/main" id="{5C042C97-609A-48DF-8872-E81E343D4922}"/>
              </a:ext>
            </a:extLst>
          </p:cNvPr>
          <p:cNvSpPr>
            <a:spLocks noGrp="1"/>
          </p:cNvSpPr>
          <p:nvPr/>
        </p:nvSpPr>
        <p:spPr>
          <a:xfrm>
            <a:off x="3781425" y="49149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Quantify transfer gains, market differences and failure cases.</a:t>
            </a:r>
          </a:p>
        </p:txBody>
      </p:sp>
    </p:spTree>
    <p:extLst>
      <p:ext uri="{BB962C8B-B14F-4D97-AF65-F5344CB8AC3E}">
        <p14:creationId xmlns:p14="http://schemas.microsoft.com/office/powerpoint/2010/main" val="198000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2C2ED084-0ABF-44EA-B892-E075FC1E8455}"/>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Cross-cultural recommendation</a:t>
            </a:r>
          </a:p>
        </p:txBody>
      </p:sp>
      <p:sp>
        <p:nvSpPr>
          <p:cNvPr id="2" name="직사각형 1">
            <a:extLst>
              <a:ext uri="{FF2B5EF4-FFF2-40B4-BE49-F238E27FC236}">
                <a16:creationId xmlns:a16="http://schemas.microsoft.com/office/drawing/2014/main" id="{B443D561-F12C-4696-8890-939778E5B74F}"/>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03</a:t>
            </a:r>
          </a:p>
        </p:txBody>
      </p:sp>
      <p:sp>
        <p:nvSpPr>
          <p:cNvPr id="3" name="직사각형 2">
            <a:extLst>
              <a:ext uri="{FF2B5EF4-FFF2-40B4-BE49-F238E27FC236}">
                <a16:creationId xmlns:a16="http://schemas.microsoft.com/office/drawing/2014/main" id="{E1ECC5ED-CC98-4B65-8B3D-F413268890AE}"/>
              </a:ext>
            </a:extLst>
          </p:cNvPr>
          <p:cNvSpPr>
            <a:spLocks noGrp="1"/>
          </p:cNvSpPr>
          <p:nvPr/>
        </p:nvSpPr>
        <p:spPr>
          <a:xfrm>
            <a:off x="609600" y="16668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Cross-country transfer</a:t>
            </a:r>
          </a:p>
        </p:txBody>
      </p:sp>
      <p:sp>
        <p:nvSpPr>
          <p:cNvPr id="4" name="직사각형 3">
            <a:extLst>
              <a:ext uri="{FF2B5EF4-FFF2-40B4-BE49-F238E27FC236}">
                <a16:creationId xmlns:a16="http://schemas.microsoft.com/office/drawing/2014/main" id="{5022D2FF-84BB-4E8D-82C5-7F519E3D60EF}"/>
              </a:ext>
            </a:extLst>
          </p:cNvPr>
          <p:cNvSpPr>
            <a:spLocks noGrp="1"/>
          </p:cNvSpPr>
          <p:nvPr/>
        </p:nvSpPr>
        <p:spPr>
          <a:xfrm>
            <a:off x="3781425" y="16668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Train with source-country behavior and evaluate on target-country users.</a:t>
            </a:r>
          </a:p>
        </p:txBody>
      </p:sp>
      <p:sp>
        <p:nvSpPr>
          <p:cNvPr id="5" name="직사각형 4">
            <a:extLst>
              <a:ext uri="{FF2B5EF4-FFF2-40B4-BE49-F238E27FC236}">
                <a16:creationId xmlns:a16="http://schemas.microsoft.com/office/drawing/2014/main" id="{B062D360-5B4B-4E59-BB67-3E3D7E434DF9}"/>
              </a:ext>
            </a:extLst>
          </p:cNvPr>
          <p:cNvSpPr>
            <a:spLocks noGrp="1"/>
          </p:cNvSpPr>
          <p:nvPr/>
        </p:nvSpPr>
        <p:spPr>
          <a:xfrm>
            <a:off x="609600" y="27622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Travel recommendation</a:t>
            </a:r>
          </a:p>
        </p:txBody>
      </p:sp>
      <p:sp>
        <p:nvSpPr>
          <p:cNvPr id="6" name="직사각형 5">
            <a:extLst>
              <a:ext uri="{FF2B5EF4-FFF2-40B4-BE49-F238E27FC236}">
                <a16:creationId xmlns:a16="http://schemas.microsoft.com/office/drawing/2014/main" id="{413FCD7D-97E4-404A-9E84-07EE31A6DEE1}"/>
              </a:ext>
            </a:extLst>
          </p:cNvPr>
          <p:cNvSpPr>
            <a:spLocks noGrp="1"/>
          </p:cNvSpPr>
          <p:nvPr/>
        </p:nvSpPr>
        <p:spPr>
          <a:xfrm>
            <a:off x="3781425" y="27622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Use a traveler’s earlier behavior to rank destinations or places abroad.</a:t>
            </a:r>
          </a:p>
        </p:txBody>
      </p:sp>
      <p:sp>
        <p:nvSpPr>
          <p:cNvPr id="7" name="직사각형 6">
            <a:extLst>
              <a:ext uri="{FF2B5EF4-FFF2-40B4-BE49-F238E27FC236}">
                <a16:creationId xmlns:a16="http://schemas.microsoft.com/office/drawing/2014/main" id="{D40FAC0B-B386-4DD6-884C-E9CE592283F0}"/>
              </a:ext>
            </a:extLst>
          </p:cNvPr>
          <p:cNvSpPr>
            <a:spLocks noGrp="1"/>
          </p:cNvSpPr>
          <p:nvPr/>
        </p:nvSpPr>
        <p:spPr>
          <a:xfrm>
            <a:off x="609600" y="38576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Cultural context</a:t>
            </a:r>
          </a:p>
        </p:txBody>
      </p:sp>
      <p:sp>
        <p:nvSpPr>
          <p:cNvPr id="8" name="직사각형 7">
            <a:extLst>
              <a:ext uri="{FF2B5EF4-FFF2-40B4-BE49-F238E27FC236}">
                <a16:creationId xmlns:a16="http://schemas.microsoft.com/office/drawing/2014/main" id="{A2C26CB3-615D-483A-B4CE-1572A3F2449B}"/>
              </a:ext>
            </a:extLst>
          </p:cNvPr>
          <p:cNvSpPr>
            <a:spLocks noGrp="1"/>
          </p:cNvSpPr>
          <p:nvPr/>
        </p:nvSpPr>
        <p:spPr>
          <a:xfrm>
            <a:off x="3781425" y="38576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Represent country-level values as optional contextual features.</a:t>
            </a:r>
          </a:p>
        </p:txBody>
      </p:sp>
      <p:sp>
        <p:nvSpPr>
          <p:cNvPr id="9" name="직사각형 8">
            <a:extLst>
              <a:ext uri="{FF2B5EF4-FFF2-40B4-BE49-F238E27FC236}">
                <a16:creationId xmlns:a16="http://schemas.microsoft.com/office/drawing/2014/main" id="{60ED8404-F3CD-4587-890B-4316B93FC503}"/>
              </a:ext>
            </a:extLst>
          </p:cNvPr>
          <p:cNvSpPr>
            <a:spLocks noGrp="1"/>
          </p:cNvSpPr>
          <p:nvPr/>
        </p:nvSpPr>
        <p:spPr>
          <a:xfrm>
            <a:off x="609600" y="531495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Country, language, residence and nationality describe different things.</a:t>
            </a:r>
          </a:p>
        </p:txBody>
      </p:sp>
    </p:spTree>
    <p:extLst>
      <p:ext uri="{BB962C8B-B14F-4D97-AF65-F5344CB8AC3E}">
        <p14:creationId xmlns:p14="http://schemas.microsoft.com/office/powerpoint/2010/main" val="509981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438"/>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C6DBC6F1-44B7-4CD2-B2C0-5267CA453F6C}"/>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FFFFFF"/>
                </a:solidFill>
                <a:latin typeface="Aptos"/>
                <a:ea typeface="Aptos"/>
                <a:cs typeface="Aptos"/>
              </a:defRPr>
            </a:defPPr>
          </a:lstStyle>
          <a:p>
            <a:pPr>
              <a:defRPr sz="3300" b="1">
                <a:solidFill>
                  <a:srgbClr val="FFFFFF"/>
                </a:solidFill>
                <a:latin typeface="Aptos"/>
                <a:ea typeface="Aptos"/>
                <a:cs typeface="Aptos"/>
              </a:defRPr>
            </a:pPr>
            <a:r>
              <a:rPr sz="3300" b="1">
                <a:solidFill>
                  <a:srgbClr val="FFFFFF"/>
                </a:solidFill>
                <a:latin typeface="Aptos"/>
                <a:ea typeface="Aptos"/>
                <a:cs typeface="Aptos"/>
              </a:rPr>
              <a:t>Project policy</a:t>
            </a:r>
          </a:p>
        </p:txBody>
      </p:sp>
      <p:sp>
        <p:nvSpPr>
          <p:cNvPr id="2" name="직사각형 1">
            <a:extLst>
              <a:ext uri="{FF2B5EF4-FFF2-40B4-BE49-F238E27FC236}">
                <a16:creationId xmlns:a16="http://schemas.microsoft.com/office/drawing/2014/main" id="{29EA84E0-338F-49CD-B9DC-B510E64FFA79}"/>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BCD5DC"/>
                </a:solidFill>
                <a:latin typeface="Aptos"/>
                <a:ea typeface="Aptos"/>
                <a:cs typeface="Aptos"/>
              </a:defRPr>
            </a:defPPr>
          </a:lstStyle>
          <a:p>
            <a:pPr>
              <a:defRPr sz="1350" b="0">
                <a:solidFill>
                  <a:srgbClr val="BCD5DC"/>
                </a:solidFill>
                <a:latin typeface="Aptos"/>
                <a:ea typeface="Aptos"/>
                <a:cs typeface="Aptos"/>
              </a:defRPr>
            </a:pPr>
            <a:r>
              <a:rPr sz="1350" b="0">
                <a:solidFill>
                  <a:srgbClr val="BCD5DC"/>
                </a:solidFill>
                <a:latin typeface="Aptos"/>
                <a:ea typeface="Aptos"/>
                <a:cs typeface="Aptos"/>
              </a:rPr>
              <a:t>04</a:t>
            </a:r>
          </a:p>
        </p:txBody>
      </p:sp>
      <p:sp>
        <p:nvSpPr>
          <p:cNvPr id="3" name="직사각형 2">
            <a:extLst>
              <a:ext uri="{FF2B5EF4-FFF2-40B4-BE49-F238E27FC236}">
                <a16:creationId xmlns:a16="http://schemas.microsoft.com/office/drawing/2014/main" id="{1677FB74-CCEC-40C0-A6C0-33039032E31B}"/>
              </a:ext>
            </a:extLst>
          </p:cNvPr>
          <p:cNvSpPr>
            <a:spLocks noGrp="1"/>
          </p:cNvSpPr>
          <p:nvPr/>
        </p:nvSpPr>
        <p:spPr>
          <a:xfrm>
            <a:off x="609600" y="1752600"/>
            <a:ext cx="10763250" cy="1524000"/>
          </a:xfrm>
          <a:prstGeom prst="rect">
            <a:avLst/>
          </a:prstGeom>
          <a:noFill/>
          <a:ln w="0">
            <a:noFill/>
          </a:ln>
        </p:spPr>
        <p:txBody>
          <a:bodyPr lIns="0" tIns="0" rIns="0" bIns="0" anchor="t"/>
          <a:lstStyle>
            <a:defPPr>
              <a:defRPr sz="3375" b="1">
                <a:solidFill>
                  <a:srgbClr val="FFFFFF"/>
                </a:solidFill>
                <a:latin typeface="Aptos"/>
                <a:ea typeface="Aptos"/>
                <a:cs typeface="Aptos"/>
              </a:defRPr>
            </a:defPPr>
          </a:lstStyle>
          <a:p>
            <a:pPr>
              <a:defRPr sz="3375" b="1">
                <a:solidFill>
                  <a:srgbClr val="FFFFFF"/>
                </a:solidFill>
                <a:latin typeface="Aptos"/>
                <a:ea typeface="Aptos"/>
                <a:cs typeface="Aptos"/>
              </a:defRPr>
            </a:pPr>
            <a:r>
              <a:rPr sz="3375" b="1">
                <a:solidFill>
                  <a:srgbClr val="FFFFFF"/>
                </a:solidFill>
                <a:latin typeface="Aptos"/>
                <a:ea typeface="Aptos"/>
                <a:cs typeface="Aptos"/>
              </a:rPr>
              <a:t>There are no course-imposed restrictions</a:t>
            </a:r>
          </a:p>
          <a:p>
            <a:pPr>
              <a:defRPr sz="3375" b="1">
                <a:solidFill>
                  <a:srgbClr val="FFFFFF"/>
                </a:solidFill>
                <a:latin typeface="Aptos"/>
                <a:ea typeface="Aptos"/>
                <a:cs typeface="Aptos"/>
              </a:defRPr>
            </a:pPr>
            <a:r>
              <a:rPr sz="3375" b="1">
                <a:solidFill>
                  <a:srgbClr val="FFFFFF"/>
                </a:solidFill>
                <a:latin typeface="Aptos"/>
                <a:ea typeface="Aptos"/>
                <a:cs typeface="Aptos"/>
              </a:rPr>
              <a:t>on the use of public datasets.</a:t>
            </a:r>
          </a:p>
        </p:txBody>
      </p:sp>
      <p:sp>
        <p:nvSpPr>
          <p:cNvPr id="4" name="직사각형 3">
            <a:extLst>
              <a:ext uri="{FF2B5EF4-FFF2-40B4-BE49-F238E27FC236}">
                <a16:creationId xmlns:a16="http://schemas.microsoft.com/office/drawing/2014/main" id="{77597355-C273-4A6F-9E38-7B0740084D00}"/>
              </a:ext>
            </a:extLst>
          </p:cNvPr>
          <p:cNvSpPr>
            <a:spLocks noGrp="1"/>
          </p:cNvSpPr>
          <p:nvPr/>
        </p:nvSpPr>
        <p:spPr>
          <a:xfrm>
            <a:off x="609600" y="3771900"/>
            <a:ext cx="10715625" cy="914400"/>
          </a:xfrm>
          <a:prstGeom prst="rect">
            <a:avLst/>
          </a:prstGeom>
          <a:noFill/>
          <a:ln w="0">
            <a:noFill/>
          </a:ln>
        </p:spPr>
        <p:txBody>
          <a:bodyPr lIns="0" tIns="0" rIns="0" bIns="0" anchor="t"/>
          <a:lstStyle>
            <a:defPPr>
              <a:defRPr sz="2250" b="1">
                <a:solidFill>
                  <a:srgbClr val="65D3CD"/>
                </a:solidFill>
                <a:latin typeface="Aptos"/>
                <a:ea typeface="Aptos"/>
                <a:cs typeface="Aptos"/>
              </a:defRPr>
            </a:defPPr>
          </a:lstStyle>
          <a:p>
            <a:pPr>
              <a:defRPr sz="2250" b="1">
                <a:solidFill>
                  <a:srgbClr val="65D3CD"/>
                </a:solidFill>
                <a:latin typeface="Aptos"/>
                <a:ea typeface="Aptos"/>
                <a:cs typeface="Aptos"/>
              </a:defRPr>
            </a:pPr>
            <a:r>
              <a:rPr sz="2250" b="1">
                <a:solidFill>
                  <a:srgbClr val="65D3CD"/>
                </a:solidFill>
                <a:latin typeface="Aptos"/>
                <a:ea typeface="Aptos"/>
                <a:cs typeface="Aptos"/>
              </a:rPr>
              <a:t>Students must comply with each dataset's license, terms,</a:t>
            </a:r>
          </a:p>
          <a:p>
            <a:pPr>
              <a:defRPr sz="2250" b="1">
                <a:solidFill>
                  <a:srgbClr val="65D3CD"/>
                </a:solidFill>
                <a:latin typeface="Aptos"/>
                <a:ea typeface="Aptos"/>
                <a:cs typeface="Aptos"/>
              </a:defRPr>
            </a:pPr>
            <a:r>
              <a:rPr sz="2250" b="1">
                <a:solidFill>
                  <a:srgbClr val="65D3CD"/>
                </a:solidFill>
                <a:latin typeface="Aptos"/>
                <a:ea typeface="Aptos"/>
                <a:cs typeface="Aptos"/>
              </a:rPr>
              <a:t>privacy and attribution requirements.</a:t>
            </a:r>
          </a:p>
        </p:txBody>
      </p:sp>
      <p:sp>
        <p:nvSpPr>
          <p:cNvPr id="5" name="직사각형 4">
            <a:extLst>
              <a:ext uri="{FF2B5EF4-FFF2-40B4-BE49-F238E27FC236}">
                <a16:creationId xmlns:a16="http://schemas.microsoft.com/office/drawing/2014/main" id="{1E5AF821-2F3F-4EEC-92CC-F801F748DDFE}"/>
              </a:ext>
            </a:extLst>
          </p:cNvPr>
          <p:cNvSpPr>
            <a:spLocks noGrp="1"/>
          </p:cNvSpPr>
          <p:nvPr/>
        </p:nvSpPr>
        <p:spPr>
          <a:xfrm>
            <a:off x="609600" y="5248275"/>
            <a:ext cx="10763250" cy="733425"/>
          </a:xfrm>
          <a:prstGeom prst="rect">
            <a:avLst/>
          </a:prstGeom>
          <a:noFill/>
          <a:ln w="0">
            <a:noFill/>
          </a:ln>
        </p:spPr>
        <p:txBody>
          <a:bodyPr lIns="0" tIns="0" rIns="0" bIns="0" anchor="t"/>
          <a:lstStyle>
            <a:defPPr>
              <a:defRPr sz="1875" b="0">
                <a:solidFill>
                  <a:srgbClr val="FFFFFF"/>
                </a:solidFill>
                <a:latin typeface="Aptos"/>
                <a:ea typeface="Aptos"/>
                <a:cs typeface="Aptos"/>
              </a:defRPr>
            </a:defPPr>
          </a:lstStyle>
          <a:p>
            <a:pPr>
              <a:defRPr sz="1875" b="0">
                <a:solidFill>
                  <a:srgbClr val="FFFFFF"/>
                </a:solidFill>
                <a:latin typeface="Aptos"/>
                <a:ea typeface="Aptos"/>
                <a:cs typeface="Aptos"/>
              </a:defRPr>
            </a:pPr>
            <a:r>
              <a:rPr sz="1875" b="0">
                <a:solidFill>
                  <a:srgbClr val="FFFFFF"/>
                </a:solidFill>
                <a:latin typeface="Aptos"/>
                <a:ea typeface="Aptos"/>
                <a:cs typeface="Aptos"/>
              </a:rPr>
              <a:t>Document the source, permitted use and redistribution rules.</a:t>
            </a:r>
          </a:p>
          <a:p>
            <a:pPr>
              <a:defRPr sz="1875" b="0">
                <a:solidFill>
                  <a:srgbClr val="FFFFFF"/>
                </a:solidFill>
                <a:latin typeface="Aptos"/>
                <a:ea typeface="Aptos"/>
                <a:cs typeface="Aptos"/>
              </a:defRPr>
            </a:pPr>
            <a:r>
              <a:rPr sz="1875" b="0">
                <a:solidFill>
                  <a:srgbClr val="FFFFFF"/>
                </a:solidFill>
                <a:latin typeface="Aptos"/>
                <a:ea typeface="Aptos"/>
                <a:cs typeface="Aptos"/>
              </a:rPr>
              <a:t>Use an alternative if access or permission is unclear.</a:t>
            </a:r>
          </a:p>
        </p:txBody>
      </p:sp>
    </p:spTree>
    <p:extLst>
      <p:ext uri="{BB962C8B-B14F-4D97-AF65-F5344CB8AC3E}">
        <p14:creationId xmlns:p14="http://schemas.microsoft.com/office/powerpoint/2010/main" val="270775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3804D1C2-F2DA-48F9-BA8E-7F81EE010686}"/>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Public dataset landscape</a:t>
            </a:r>
          </a:p>
        </p:txBody>
      </p:sp>
      <p:sp>
        <p:nvSpPr>
          <p:cNvPr id="2" name="직사각형 1">
            <a:extLst>
              <a:ext uri="{FF2B5EF4-FFF2-40B4-BE49-F238E27FC236}">
                <a16:creationId xmlns:a16="http://schemas.microsoft.com/office/drawing/2014/main" id="{ACDD11DA-2406-4F61-9F16-43AB00596CD6}"/>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05</a:t>
            </a:r>
          </a:p>
        </p:txBody>
      </p:sp>
      <p:graphicFrame>
        <p:nvGraphicFramePr>
          <p:cNvPr id="3" name="표 2">
            <a:extLst>
              <a:ext uri="{FF2B5EF4-FFF2-40B4-BE49-F238E27FC236}">
                <a16:creationId xmlns:a16="http://schemas.microsoft.com/office/drawing/2014/main" id="{6B05C41E-21DA-4B62-BC89-86510F7B39C6}"/>
              </a:ext>
            </a:extLst>
          </p:cNvPr>
          <p:cNvGraphicFramePr/>
          <p:nvPr/>
        </p:nvGraphicFramePr>
        <p:xfrm>
          <a:off x="609600" y="1524000"/>
          <a:ext cx="10972800" cy="4267200"/>
        </p:xfrm>
        <a:graphic>
          <a:graphicData uri="http://schemas.openxmlformats.org/drawingml/2006/table">
            <a:tbl>
              <a:tblPr/>
              <a:tblGrid>
                <a:gridCol w="2714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609600">
                <a:tc>
                  <a:txBody>
                    <a:bodyPr/>
                    <a:lstStyle/>
                    <a:p>
                      <a:r>
                        <a:rPr sz="1650" b="1">
                          <a:solidFill>
                            <a:srgbClr val="FFFFFF"/>
                          </a:solidFill>
                          <a:latin typeface="Aptos"/>
                          <a:ea typeface="Aptos"/>
                          <a:cs typeface="Aptos"/>
                        </a:rPr>
                        <a:t>Source</a:t>
                      </a:r>
                    </a:p>
                  </a:txBody>
                  <a:tcPr>
                    <a:solidFill>
                      <a:srgbClr val="102438"/>
                    </a:solidFill>
                  </a:tcPr>
                </a:tc>
                <a:tc>
                  <a:txBody>
                    <a:bodyPr/>
                    <a:lstStyle/>
                    <a:p>
                      <a:r>
                        <a:rPr sz="1650" b="1">
                          <a:solidFill>
                            <a:srgbClr val="FFFFFF"/>
                          </a:solidFill>
                          <a:latin typeface="Aptos"/>
                          <a:ea typeface="Aptos"/>
                          <a:cs typeface="Aptos"/>
                        </a:rPr>
                        <a:t>Recommendation signal</a:t>
                      </a:r>
                    </a:p>
                  </a:txBody>
                  <a:tcPr>
                    <a:solidFill>
                      <a:srgbClr val="102438"/>
                    </a:solidFill>
                  </a:tcPr>
                </a:tc>
                <a:tc>
                  <a:txBody>
                    <a:bodyPr/>
                    <a:lstStyle/>
                    <a:p>
                      <a:r>
                        <a:rPr sz="1650" b="1">
                          <a:solidFill>
                            <a:srgbClr val="FFFFFF"/>
                          </a:solidFill>
                          <a:latin typeface="Aptos"/>
                          <a:ea typeface="Aptos"/>
                          <a:cs typeface="Aptos"/>
                        </a:rPr>
                        <a:t>Country / culture signal</a:t>
                      </a:r>
                    </a:p>
                  </a:txBody>
                  <a:tcPr>
                    <a:solidFill>
                      <a:srgbClr val="102438"/>
                    </a:solidFill>
                  </a:tcPr>
                </a:tc>
                <a:extLst>
                  <a:ext uri="{0D108BD9-81ED-4DB2-BD59-A6C34878D82A}">
                    <a16:rowId xmlns:a16="http://schemas.microsoft.com/office/drawing/2014/main" val="10000"/>
                  </a:ext>
                </a:extLst>
              </a:tr>
              <a:tr h="609600">
                <a:tc>
                  <a:txBody>
                    <a:bodyPr/>
                    <a:lstStyle/>
                    <a:p>
                      <a:r>
                        <a:rPr sz="1650" b="0">
                          <a:solidFill>
                            <a:srgbClr val="183348"/>
                          </a:solidFill>
                          <a:latin typeface="Aptos"/>
                          <a:ea typeface="Aptos"/>
                          <a:cs typeface="Aptos"/>
                        </a:rPr>
                        <a:t>Foursquare</a:t>
                      </a:r>
                    </a:p>
                  </a:txBody>
                  <a:tcPr>
                    <a:solidFill>
                      <a:srgbClr val="FFFFFF"/>
                    </a:solidFill>
                  </a:tcPr>
                </a:tc>
                <a:tc>
                  <a:txBody>
                    <a:bodyPr/>
                    <a:lstStyle/>
                    <a:p>
                      <a:r>
                        <a:rPr sz="1650" b="0">
                          <a:solidFill>
                            <a:srgbClr val="183348"/>
                          </a:solidFill>
                          <a:latin typeface="Aptos"/>
                          <a:ea typeface="Aptos"/>
                          <a:cs typeface="Aptos"/>
                        </a:rPr>
                        <a:t>User–venue check-ins</a:t>
                      </a:r>
                    </a:p>
                  </a:txBody>
                  <a:tcPr>
                    <a:solidFill>
                      <a:srgbClr val="FFFFFF"/>
                    </a:solidFill>
                  </a:tcPr>
                </a:tc>
                <a:tc>
                  <a:txBody>
                    <a:bodyPr/>
                    <a:lstStyle/>
                    <a:p>
                      <a:r>
                        <a:rPr sz="1650" b="0">
                          <a:solidFill>
                            <a:srgbClr val="183348"/>
                          </a:solidFill>
                          <a:latin typeface="Aptos"/>
                          <a:ea typeface="Aptos"/>
                          <a:cs typeface="Aptos"/>
                        </a:rPr>
                        <a:t>Venue location. Infer residence cautiously.</a:t>
                      </a:r>
                    </a:p>
                  </a:txBody>
                  <a:tcPr>
                    <a:solidFill>
                      <a:srgbClr val="FFFFFF"/>
                    </a:solidFill>
                  </a:tcPr>
                </a:tc>
                <a:extLst>
                  <a:ext uri="{0D108BD9-81ED-4DB2-BD59-A6C34878D82A}">
                    <a16:rowId xmlns:a16="http://schemas.microsoft.com/office/drawing/2014/main" val="10001"/>
                  </a:ext>
                </a:extLst>
              </a:tr>
              <a:tr h="609600">
                <a:tc>
                  <a:txBody>
                    <a:bodyPr/>
                    <a:lstStyle/>
                    <a:p>
                      <a:r>
                        <a:rPr sz="1650" b="0">
                          <a:solidFill>
                            <a:srgbClr val="183348"/>
                          </a:solidFill>
                          <a:latin typeface="Aptos"/>
                          <a:ea typeface="Aptos"/>
                          <a:cs typeface="Aptos"/>
                        </a:rPr>
                        <a:t>Last.fm</a:t>
                      </a:r>
                    </a:p>
                  </a:txBody>
                  <a:tcPr>
                    <a:solidFill>
                      <a:srgbClr val="EDF2F0"/>
                    </a:solidFill>
                  </a:tcPr>
                </a:tc>
                <a:tc>
                  <a:txBody>
                    <a:bodyPr/>
                    <a:lstStyle/>
                    <a:p>
                      <a:r>
                        <a:rPr sz="1650" b="0">
                          <a:solidFill>
                            <a:srgbClr val="183348"/>
                          </a:solidFill>
                          <a:latin typeface="Aptos"/>
                          <a:ea typeface="Aptos"/>
                          <a:cs typeface="Aptos"/>
                        </a:rPr>
                        <a:t>Listening events or artist counts</a:t>
                      </a:r>
                    </a:p>
                  </a:txBody>
                  <a:tcPr>
                    <a:solidFill>
                      <a:srgbClr val="EDF2F0"/>
                    </a:solidFill>
                  </a:tcPr>
                </a:tc>
                <a:tc>
                  <a:txBody>
                    <a:bodyPr/>
                    <a:lstStyle/>
                    <a:p>
                      <a:r>
                        <a:rPr sz="1650" b="0">
                          <a:solidFill>
                            <a:srgbClr val="183348"/>
                          </a:solidFill>
                          <a:latin typeface="Aptos"/>
                          <a:ea typeface="Aptos"/>
                          <a:cs typeface="Aptos"/>
                        </a:rPr>
                        <a:t>Self-reported profile country</a:t>
                      </a:r>
                    </a:p>
                  </a:txBody>
                  <a:tcPr>
                    <a:solidFill>
                      <a:srgbClr val="EDF2F0"/>
                    </a:solidFill>
                  </a:tcPr>
                </a:tc>
                <a:extLst>
                  <a:ext uri="{0D108BD9-81ED-4DB2-BD59-A6C34878D82A}">
                    <a16:rowId xmlns:a16="http://schemas.microsoft.com/office/drawing/2014/main" val="10002"/>
                  </a:ext>
                </a:extLst>
              </a:tr>
              <a:tr h="609600">
                <a:tc>
                  <a:txBody>
                    <a:bodyPr/>
                    <a:lstStyle/>
                    <a:p>
                      <a:r>
                        <a:rPr sz="1650" b="0">
                          <a:solidFill>
                            <a:srgbClr val="183348"/>
                          </a:solidFill>
                          <a:latin typeface="Aptos"/>
                          <a:ea typeface="Aptos"/>
                          <a:cs typeface="Aptos"/>
                        </a:rPr>
                        <a:t>Amazon MARC</a:t>
                      </a:r>
                    </a:p>
                  </a:txBody>
                  <a:tcPr>
                    <a:solidFill>
                      <a:srgbClr val="FFFFFF"/>
                    </a:solidFill>
                  </a:tcPr>
                </a:tc>
                <a:tc>
                  <a:txBody>
                    <a:bodyPr/>
                    <a:lstStyle/>
                    <a:p>
                      <a:r>
                        <a:rPr sz="1650" b="0">
                          <a:solidFill>
                            <a:srgbClr val="183348"/>
                          </a:solidFill>
                          <a:latin typeface="Aptos"/>
                          <a:ea typeface="Aptos"/>
                          <a:cs typeface="Aptos"/>
                        </a:rPr>
                        <a:t>Reviews and star ratings</a:t>
                      </a:r>
                    </a:p>
                  </a:txBody>
                  <a:tcPr>
                    <a:solidFill>
                      <a:srgbClr val="FFFFFF"/>
                    </a:solidFill>
                  </a:tcPr>
                </a:tc>
                <a:tc>
                  <a:txBody>
                    <a:bodyPr/>
                    <a:lstStyle/>
                    <a:p>
                      <a:r>
                        <a:rPr sz="1650" b="0">
                          <a:solidFill>
                            <a:srgbClr val="183348"/>
                          </a:solidFill>
                          <a:latin typeface="Aptos"/>
                          <a:ea typeface="Aptos"/>
                          <a:cs typeface="Aptos"/>
                        </a:rPr>
                        <a:t>Language / marketplace proxy. Access withdrawn.</a:t>
                      </a:r>
                    </a:p>
                  </a:txBody>
                  <a:tcPr>
                    <a:solidFill>
                      <a:srgbClr val="FFFFFF"/>
                    </a:solidFill>
                  </a:tcPr>
                </a:tc>
                <a:extLst>
                  <a:ext uri="{0D108BD9-81ED-4DB2-BD59-A6C34878D82A}">
                    <a16:rowId xmlns:a16="http://schemas.microsoft.com/office/drawing/2014/main" val="10003"/>
                  </a:ext>
                </a:extLst>
              </a:tr>
              <a:tr h="609600">
                <a:tc>
                  <a:txBody>
                    <a:bodyPr/>
                    <a:lstStyle/>
                    <a:p>
                      <a:r>
                        <a:rPr sz="1650" b="0">
                          <a:solidFill>
                            <a:srgbClr val="183348"/>
                          </a:solidFill>
                          <a:latin typeface="Aptos"/>
                          <a:ea typeface="Aptos"/>
                          <a:cs typeface="Aptos"/>
                        </a:rPr>
                        <a:t>Booking.com MDT</a:t>
                      </a:r>
                    </a:p>
                  </a:txBody>
                  <a:tcPr>
                    <a:solidFill>
                      <a:srgbClr val="EDF2F0"/>
                    </a:solidFill>
                  </a:tcPr>
                </a:tc>
                <a:tc>
                  <a:txBody>
                    <a:bodyPr/>
                    <a:lstStyle/>
                    <a:p>
                      <a:r>
                        <a:rPr sz="1650" b="0">
                          <a:solidFill>
                            <a:srgbClr val="183348"/>
                          </a:solidFill>
                          <a:latin typeface="Aptos"/>
                          <a:ea typeface="Aptos"/>
                          <a:cs typeface="Aptos"/>
                        </a:rPr>
                        <a:t>Sequences of hotel reservations</a:t>
                      </a:r>
                    </a:p>
                  </a:txBody>
                  <a:tcPr>
                    <a:solidFill>
                      <a:srgbClr val="EDF2F0"/>
                    </a:solidFill>
                  </a:tcPr>
                </a:tc>
                <a:tc>
                  <a:txBody>
                    <a:bodyPr/>
                    <a:lstStyle/>
                    <a:p>
                      <a:r>
                        <a:rPr sz="1650" b="0">
                          <a:solidFill>
                            <a:srgbClr val="183348"/>
                          </a:solidFill>
                          <a:latin typeface="Aptos"/>
                          <a:ea typeface="Aptos"/>
                          <a:cs typeface="Aptos"/>
                        </a:rPr>
                        <a:t>Anonymized booker and hotel country</a:t>
                      </a:r>
                    </a:p>
                  </a:txBody>
                  <a:tcPr>
                    <a:solidFill>
                      <a:srgbClr val="EDF2F0"/>
                    </a:solidFill>
                  </a:tcPr>
                </a:tc>
                <a:extLst>
                  <a:ext uri="{0D108BD9-81ED-4DB2-BD59-A6C34878D82A}">
                    <a16:rowId xmlns:a16="http://schemas.microsoft.com/office/drawing/2014/main" val="10004"/>
                  </a:ext>
                </a:extLst>
              </a:tr>
              <a:tr h="609600">
                <a:tc>
                  <a:txBody>
                    <a:bodyPr/>
                    <a:lstStyle/>
                    <a:p>
                      <a:r>
                        <a:rPr sz="1650" b="0">
                          <a:solidFill>
                            <a:srgbClr val="183348"/>
                          </a:solidFill>
                          <a:latin typeface="Aptos"/>
                          <a:ea typeface="Aptos"/>
                          <a:cs typeface="Aptos"/>
                        </a:rPr>
                        <a:t>Gowalla / Brightkite</a:t>
                      </a:r>
                    </a:p>
                  </a:txBody>
                  <a:tcPr>
                    <a:solidFill>
                      <a:srgbClr val="FFFFFF"/>
                    </a:solidFill>
                  </a:tcPr>
                </a:tc>
                <a:tc>
                  <a:txBody>
                    <a:bodyPr/>
                    <a:lstStyle/>
                    <a:p>
                      <a:r>
                        <a:rPr sz="1650" b="0">
                          <a:solidFill>
                            <a:srgbClr val="183348"/>
                          </a:solidFill>
                          <a:latin typeface="Aptos"/>
                          <a:ea typeface="Aptos"/>
                          <a:cs typeface="Aptos"/>
                        </a:rPr>
                        <a:t>Check-ins and friendships</a:t>
                      </a:r>
                    </a:p>
                  </a:txBody>
                  <a:tcPr>
                    <a:solidFill>
                      <a:srgbClr val="FFFFFF"/>
                    </a:solidFill>
                  </a:tcPr>
                </a:tc>
                <a:tc>
                  <a:txBody>
                    <a:bodyPr/>
                    <a:lstStyle/>
                    <a:p>
                      <a:r>
                        <a:rPr sz="1650" b="0">
                          <a:solidFill>
                            <a:srgbClr val="183348"/>
                          </a:solidFill>
                          <a:latin typeface="Aptos"/>
                          <a:ea typeface="Aptos"/>
                          <a:cs typeface="Aptos"/>
                        </a:rPr>
                        <a:t>Coordinates require country mapping</a:t>
                      </a:r>
                    </a:p>
                  </a:txBody>
                  <a:tcPr>
                    <a:solidFill>
                      <a:srgbClr val="FFFFFF"/>
                    </a:solidFill>
                  </a:tcPr>
                </a:tc>
                <a:extLst>
                  <a:ext uri="{0D108BD9-81ED-4DB2-BD59-A6C34878D82A}">
                    <a16:rowId xmlns:a16="http://schemas.microsoft.com/office/drawing/2014/main" val="10005"/>
                  </a:ext>
                </a:extLst>
              </a:tr>
              <a:tr h="609600">
                <a:tc>
                  <a:txBody>
                    <a:bodyPr/>
                    <a:lstStyle/>
                    <a:p>
                      <a:r>
                        <a:rPr sz="1650" b="0" dirty="0">
                          <a:solidFill>
                            <a:srgbClr val="183348"/>
                          </a:solidFill>
                          <a:latin typeface="Aptos"/>
                          <a:ea typeface="Aptos"/>
                          <a:cs typeface="Aptos"/>
                        </a:rPr>
                        <a:t>World Values Survey</a:t>
                      </a:r>
                    </a:p>
                  </a:txBody>
                  <a:tcPr>
                    <a:solidFill>
                      <a:srgbClr val="EDF2F0"/>
                    </a:solidFill>
                  </a:tcPr>
                </a:tc>
                <a:tc>
                  <a:txBody>
                    <a:bodyPr/>
                    <a:lstStyle/>
                    <a:p>
                      <a:r>
                        <a:rPr sz="1650" b="0">
                          <a:solidFill>
                            <a:srgbClr val="183348"/>
                          </a:solidFill>
                          <a:latin typeface="Aptos"/>
                          <a:ea typeface="Aptos"/>
                          <a:cs typeface="Aptos"/>
                        </a:rPr>
                        <a:t>Survey responses, no item histories</a:t>
                      </a:r>
                    </a:p>
                  </a:txBody>
                  <a:tcPr>
                    <a:solidFill>
                      <a:srgbClr val="EDF2F0"/>
                    </a:solidFill>
                  </a:tcPr>
                </a:tc>
                <a:tc>
                  <a:txBody>
                    <a:bodyPr/>
                    <a:lstStyle/>
                    <a:p>
                      <a:r>
                        <a:rPr sz="1650" b="0" dirty="0">
                          <a:solidFill>
                            <a:srgbClr val="183348"/>
                          </a:solidFill>
                          <a:latin typeface="Aptos"/>
                          <a:ea typeface="Aptos"/>
                          <a:cs typeface="Aptos"/>
                        </a:rPr>
                        <a:t>Country-level values and attitudes</a:t>
                      </a:r>
                    </a:p>
                  </a:txBody>
                  <a:tcPr>
                    <a:solidFill>
                      <a:srgbClr val="EDF2F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0388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6AFF1FB2-0EFA-441A-9D20-8BD6D687672B}"/>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Foursquare: international place recommendation</a:t>
            </a:r>
          </a:p>
        </p:txBody>
      </p:sp>
      <p:sp>
        <p:nvSpPr>
          <p:cNvPr id="2" name="직사각형 1">
            <a:extLst>
              <a:ext uri="{FF2B5EF4-FFF2-40B4-BE49-F238E27FC236}">
                <a16:creationId xmlns:a16="http://schemas.microsoft.com/office/drawing/2014/main" id="{A2669581-B151-4418-B631-559C89637A00}"/>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06</a:t>
            </a:r>
          </a:p>
        </p:txBody>
      </p:sp>
      <p:sp>
        <p:nvSpPr>
          <p:cNvPr id="3" name="직사각형 2">
            <a:extLst>
              <a:ext uri="{FF2B5EF4-FFF2-40B4-BE49-F238E27FC236}">
                <a16:creationId xmlns:a16="http://schemas.microsoft.com/office/drawing/2014/main" id="{E20BE4CE-AD37-4FD2-B62C-077C2F83F2CD}"/>
              </a:ext>
            </a:extLst>
          </p:cNvPr>
          <p:cNvSpPr>
            <a:spLocks noGrp="1"/>
          </p:cNvSpPr>
          <p:nvPr/>
        </p:nvSpPr>
        <p:spPr>
          <a:xfrm>
            <a:off x="609600" y="1543050"/>
            <a:ext cx="10858500" cy="552450"/>
          </a:xfrm>
          <a:prstGeom prst="rect">
            <a:avLst/>
          </a:prstGeom>
          <a:noFill/>
          <a:ln w="0">
            <a:noFill/>
          </a:ln>
        </p:spPr>
        <p:txBody>
          <a:bodyPr lIns="0" tIns="0" rIns="0" bIns="0" anchor="t"/>
          <a:lstStyle>
            <a:defPPr>
              <a:defRPr sz="2550" b="1">
                <a:solidFill>
                  <a:srgbClr val="007F83"/>
                </a:solidFill>
                <a:latin typeface="Aptos"/>
                <a:ea typeface="Aptos"/>
                <a:cs typeface="Aptos"/>
              </a:defRPr>
            </a:defPPr>
          </a:lstStyle>
          <a:p>
            <a:pPr>
              <a:defRPr sz="2550" b="1">
                <a:solidFill>
                  <a:srgbClr val="007F83"/>
                </a:solidFill>
                <a:latin typeface="Aptos"/>
                <a:ea typeface="Aptos"/>
                <a:cs typeface="Aptos"/>
              </a:defRPr>
            </a:pPr>
            <a:r>
              <a:rPr sz="2550" b="1">
                <a:solidFill>
                  <a:srgbClr val="007F83"/>
                </a:solidFill>
                <a:latin typeface="Aptos"/>
                <a:ea typeface="Aptos"/>
                <a:cs typeface="Aptos"/>
              </a:rPr>
              <a:t>77 countries     415 cities     33.3M check-ins</a:t>
            </a:r>
          </a:p>
        </p:txBody>
      </p:sp>
      <p:sp>
        <p:nvSpPr>
          <p:cNvPr id="4" name="직사각형 3">
            <a:extLst>
              <a:ext uri="{FF2B5EF4-FFF2-40B4-BE49-F238E27FC236}">
                <a16:creationId xmlns:a16="http://schemas.microsoft.com/office/drawing/2014/main" id="{D32E1AFB-4C97-4740-B43B-60906139E254}"/>
              </a:ext>
            </a:extLst>
          </p:cNvPr>
          <p:cNvSpPr>
            <a:spLocks noGrp="1"/>
          </p:cNvSpPr>
          <p:nvPr/>
        </p:nvSpPr>
        <p:spPr>
          <a:xfrm>
            <a:off x="609600" y="25717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Task</a:t>
            </a:r>
          </a:p>
        </p:txBody>
      </p:sp>
      <p:sp>
        <p:nvSpPr>
          <p:cNvPr id="5" name="직사각형 4">
            <a:extLst>
              <a:ext uri="{FF2B5EF4-FFF2-40B4-BE49-F238E27FC236}">
                <a16:creationId xmlns:a16="http://schemas.microsoft.com/office/drawing/2014/main" id="{60A7C938-7955-4AE6-B694-C813D2997E2D}"/>
              </a:ext>
            </a:extLst>
          </p:cNvPr>
          <p:cNvSpPr>
            <a:spLocks noGrp="1"/>
          </p:cNvSpPr>
          <p:nvPr/>
        </p:nvSpPr>
        <p:spPr>
          <a:xfrm>
            <a:off x="3781425" y="25717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Rank places in a target city using earlier visits and place categories.</a:t>
            </a:r>
          </a:p>
        </p:txBody>
      </p:sp>
      <p:sp>
        <p:nvSpPr>
          <p:cNvPr id="6" name="직사각형 5">
            <a:extLst>
              <a:ext uri="{FF2B5EF4-FFF2-40B4-BE49-F238E27FC236}">
                <a16:creationId xmlns:a16="http://schemas.microsoft.com/office/drawing/2014/main" id="{AD38D3DD-760F-47AD-9C4A-C468611EF907}"/>
              </a:ext>
            </a:extLst>
          </p:cNvPr>
          <p:cNvSpPr>
            <a:spLocks noGrp="1"/>
          </p:cNvSpPr>
          <p:nvPr/>
        </p:nvSpPr>
        <p:spPr>
          <a:xfrm>
            <a:off x="609600" y="36290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Preparation</a:t>
            </a:r>
          </a:p>
        </p:txBody>
      </p:sp>
      <p:sp>
        <p:nvSpPr>
          <p:cNvPr id="7" name="직사각형 6">
            <a:extLst>
              <a:ext uri="{FF2B5EF4-FFF2-40B4-BE49-F238E27FC236}">
                <a16:creationId xmlns:a16="http://schemas.microsoft.com/office/drawing/2014/main" id="{06A54C08-3A6F-46CA-B58D-1901F738CC93}"/>
              </a:ext>
            </a:extLst>
          </p:cNvPr>
          <p:cNvSpPr>
            <a:spLocks noGrp="1"/>
          </p:cNvSpPr>
          <p:nvPr/>
        </p:nvSpPr>
        <p:spPr>
          <a:xfrm>
            <a:off x="3781425" y="36290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Map coordinates to countries. Estimate residence from training history only.</a:t>
            </a:r>
          </a:p>
        </p:txBody>
      </p:sp>
      <p:sp>
        <p:nvSpPr>
          <p:cNvPr id="8" name="직사각형 7">
            <a:extLst>
              <a:ext uri="{FF2B5EF4-FFF2-40B4-BE49-F238E27FC236}">
                <a16:creationId xmlns:a16="http://schemas.microsoft.com/office/drawing/2014/main" id="{DB8033C1-B5A7-4FDE-B4D7-018E01D11F93}"/>
              </a:ext>
            </a:extLst>
          </p:cNvPr>
          <p:cNvSpPr>
            <a:spLocks noGrp="1"/>
          </p:cNvSpPr>
          <p:nvPr/>
        </p:nvSpPr>
        <p:spPr>
          <a:xfrm>
            <a:off x="609600" y="46863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Limitation</a:t>
            </a:r>
          </a:p>
        </p:txBody>
      </p:sp>
      <p:sp>
        <p:nvSpPr>
          <p:cNvPr id="9" name="직사각형 8">
            <a:extLst>
              <a:ext uri="{FF2B5EF4-FFF2-40B4-BE49-F238E27FC236}">
                <a16:creationId xmlns:a16="http://schemas.microsoft.com/office/drawing/2014/main" id="{3D4292FC-A2B0-4AD0-83DE-883B02E34A50}"/>
              </a:ext>
            </a:extLst>
          </p:cNvPr>
          <p:cNvSpPr>
            <a:spLocks noGrp="1"/>
          </p:cNvSpPr>
          <p:nvPr/>
        </p:nvSpPr>
        <p:spPr>
          <a:xfrm>
            <a:off x="3781425" y="46863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A visit does not establish nationality. Travelers may have little overlap.</a:t>
            </a:r>
          </a:p>
        </p:txBody>
      </p:sp>
      <p:sp>
        <p:nvSpPr>
          <p:cNvPr id="10" name="직사각형 9">
            <a:extLst>
              <a:ext uri="{FF2B5EF4-FFF2-40B4-BE49-F238E27FC236}">
                <a16:creationId xmlns:a16="http://schemas.microsoft.com/office/drawing/2014/main" id="{A4D01597-7EC7-401A-A45E-08D4876316C2}"/>
              </a:ext>
            </a:extLst>
          </p:cNvPr>
          <p:cNvSpPr>
            <a:spLocks noGrp="1"/>
          </p:cNvSpPr>
          <p:nvPr/>
        </p:nvSpPr>
        <p:spPr>
          <a:xfrm>
            <a:off x="609600" y="5953125"/>
            <a:ext cx="104775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Dataset, README and citation instructions</a:t>
            </a:r>
          </a:p>
        </p:txBody>
      </p:sp>
    </p:spTree>
    <p:extLst>
      <p:ext uri="{BB962C8B-B14F-4D97-AF65-F5344CB8AC3E}">
        <p14:creationId xmlns:p14="http://schemas.microsoft.com/office/powerpoint/2010/main" val="1497749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75B9823A-B49A-439F-8F76-E10B1002F360}"/>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Last.fm: music across country groups</a:t>
            </a:r>
          </a:p>
        </p:txBody>
      </p:sp>
      <p:sp>
        <p:nvSpPr>
          <p:cNvPr id="2" name="직사각형 1">
            <a:extLst>
              <a:ext uri="{FF2B5EF4-FFF2-40B4-BE49-F238E27FC236}">
                <a16:creationId xmlns:a16="http://schemas.microsoft.com/office/drawing/2014/main" id="{A975964B-965C-4294-BC13-EA204EB2D39A}"/>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07</a:t>
            </a:r>
          </a:p>
        </p:txBody>
      </p:sp>
      <p:sp>
        <p:nvSpPr>
          <p:cNvPr id="3" name="직사각형 2">
            <a:extLst>
              <a:ext uri="{FF2B5EF4-FFF2-40B4-BE49-F238E27FC236}">
                <a16:creationId xmlns:a16="http://schemas.microsoft.com/office/drawing/2014/main" id="{C431537C-967D-43AB-A0CB-8F89ADF3C994}"/>
              </a:ext>
            </a:extLst>
          </p:cNvPr>
          <p:cNvSpPr>
            <a:spLocks noGrp="1"/>
          </p:cNvSpPr>
          <p:nvPr/>
        </p:nvSpPr>
        <p:spPr>
          <a:xfrm>
            <a:off x="609600" y="16668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1K users</a:t>
            </a:r>
          </a:p>
        </p:txBody>
      </p:sp>
      <p:sp>
        <p:nvSpPr>
          <p:cNvPr id="4" name="직사각형 3">
            <a:extLst>
              <a:ext uri="{FF2B5EF4-FFF2-40B4-BE49-F238E27FC236}">
                <a16:creationId xmlns:a16="http://schemas.microsoft.com/office/drawing/2014/main" id="{0C62AE4E-C74E-49D2-8722-73ED29D0979D}"/>
              </a:ext>
            </a:extLst>
          </p:cNvPr>
          <p:cNvSpPr>
            <a:spLocks noGrp="1"/>
          </p:cNvSpPr>
          <p:nvPr/>
        </p:nvSpPr>
        <p:spPr>
          <a:xfrm>
            <a:off x="3781425" y="16668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Timestamped listening events support chronological evaluation.</a:t>
            </a:r>
          </a:p>
        </p:txBody>
      </p:sp>
      <p:sp>
        <p:nvSpPr>
          <p:cNvPr id="5" name="직사각형 4">
            <a:extLst>
              <a:ext uri="{FF2B5EF4-FFF2-40B4-BE49-F238E27FC236}">
                <a16:creationId xmlns:a16="http://schemas.microsoft.com/office/drawing/2014/main" id="{3C370AD9-E671-4FD8-AB4B-99A167349D5D}"/>
              </a:ext>
            </a:extLst>
          </p:cNvPr>
          <p:cNvSpPr>
            <a:spLocks noGrp="1"/>
          </p:cNvSpPr>
          <p:nvPr/>
        </p:nvSpPr>
        <p:spPr>
          <a:xfrm>
            <a:off x="609600" y="27813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360K users</a:t>
            </a:r>
          </a:p>
        </p:txBody>
      </p:sp>
      <p:sp>
        <p:nvSpPr>
          <p:cNvPr id="6" name="직사각형 5">
            <a:extLst>
              <a:ext uri="{FF2B5EF4-FFF2-40B4-BE49-F238E27FC236}">
                <a16:creationId xmlns:a16="http://schemas.microsoft.com/office/drawing/2014/main" id="{797A7EC5-92AA-40B9-A0B5-1425DAC0463B}"/>
              </a:ext>
            </a:extLst>
          </p:cNvPr>
          <p:cNvSpPr>
            <a:spLocks noGrp="1"/>
          </p:cNvSpPr>
          <p:nvPr/>
        </p:nvSpPr>
        <p:spPr>
          <a:xfrm>
            <a:off x="3781425" y="27813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User–artist play counts support a larger static recommendation task.</a:t>
            </a:r>
          </a:p>
        </p:txBody>
      </p:sp>
      <p:sp>
        <p:nvSpPr>
          <p:cNvPr id="7" name="직사각형 6">
            <a:extLst>
              <a:ext uri="{FF2B5EF4-FFF2-40B4-BE49-F238E27FC236}">
                <a16:creationId xmlns:a16="http://schemas.microsoft.com/office/drawing/2014/main" id="{5E2DDA11-5BA5-4F4A-8C67-3FC8828E5BFD}"/>
              </a:ext>
            </a:extLst>
          </p:cNvPr>
          <p:cNvSpPr>
            <a:spLocks noGrp="1"/>
          </p:cNvSpPr>
          <p:nvPr/>
        </p:nvSpPr>
        <p:spPr>
          <a:xfrm>
            <a:off x="609600" y="38957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Country comparison</a:t>
            </a:r>
          </a:p>
        </p:txBody>
      </p:sp>
      <p:sp>
        <p:nvSpPr>
          <p:cNvPr id="8" name="직사각형 7">
            <a:extLst>
              <a:ext uri="{FF2B5EF4-FFF2-40B4-BE49-F238E27FC236}">
                <a16:creationId xmlns:a16="http://schemas.microsoft.com/office/drawing/2014/main" id="{E54AABA7-A08B-4702-B7DA-BB2CE16AD1C2}"/>
              </a:ext>
            </a:extLst>
          </p:cNvPr>
          <p:cNvSpPr>
            <a:spLocks noGrp="1"/>
          </p:cNvSpPr>
          <p:nvPr/>
        </p:nvSpPr>
        <p:spPr>
          <a:xfrm>
            <a:off x="3781425" y="38957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Profile country can group users. Shared artists can connect groups.</a:t>
            </a:r>
          </a:p>
        </p:txBody>
      </p:sp>
      <p:sp>
        <p:nvSpPr>
          <p:cNvPr id="9" name="직사각형 8">
            <a:extLst>
              <a:ext uri="{FF2B5EF4-FFF2-40B4-BE49-F238E27FC236}">
                <a16:creationId xmlns:a16="http://schemas.microsoft.com/office/drawing/2014/main" id="{E4E4C8EF-B888-482A-B923-B67168AFF067}"/>
              </a:ext>
            </a:extLst>
          </p:cNvPr>
          <p:cNvSpPr>
            <a:spLocks noGrp="1"/>
          </p:cNvSpPr>
          <p:nvPr/>
        </p:nvSpPr>
        <p:spPr>
          <a:xfrm>
            <a:off x="609600" y="527685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Access check required: the original source pages may be unavailable.</a:t>
            </a:r>
          </a:p>
        </p:txBody>
      </p:sp>
      <p:sp>
        <p:nvSpPr>
          <p:cNvPr id="10" name="직사각형 9">
            <a:extLst>
              <a:ext uri="{FF2B5EF4-FFF2-40B4-BE49-F238E27FC236}">
                <a16:creationId xmlns:a16="http://schemas.microsoft.com/office/drawing/2014/main" id="{EFAF7CD6-FBBE-4599-A3E8-68D6A95EE0D7}"/>
              </a:ext>
            </a:extLst>
          </p:cNvPr>
          <p:cNvSpPr>
            <a:spLocks noGrp="1"/>
          </p:cNvSpPr>
          <p:nvPr/>
        </p:nvSpPr>
        <p:spPr>
          <a:xfrm>
            <a:off x="609600" y="5857875"/>
            <a:ext cx="485775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Original 1K source</a:t>
            </a:r>
          </a:p>
        </p:txBody>
      </p:sp>
      <p:sp>
        <p:nvSpPr>
          <p:cNvPr id="11" name="직사각형 10">
            <a:extLst>
              <a:ext uri="{FF2B5EF4-FFF2-40B4-BE49-F238E27FC236}">
                <a16:creationId xmlns:a16="http://schemas.microsoft.com/office/drawing/2014/main" id="{E51DAA5F-AFC8-4B91-AA3D-0E8582247149}"/>
              </a:ext>
            </a:extLst>
          </p:cNvPr>
          <p:cNvSpPr>
            <a:spLocks noGrp="1"/>
          </p:cNvSpPr>
          <p:nvPr/>
        </p:nvSpPr>
        <p:spPr>
          <a:xfrm>
            <a:off x="6238875" y="5857875"/>
            <a:ext cx="485775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4"/>
              </a:rPr>
              <a:t>Original 360K source</a:t>
            </a:r>
          </a:p>
        </p:txBody>
      </p:sp>
    </p:spTree>
    <p:extLst>
      <p:ext uri="{BB962C8B-B14F-4D97-AF65-F5344CB8AC3E}">
        <p14:creationId xmlns:p14="http://schemas.microsoft.com/office/powerpoint/2010/main" val="846698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640DF5FC-26FA-4AF6-A13B-23E6699BB36F}"/>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Amazon multilingual reviews: a conditional option</a:t>
            </a:r>
          </a:p>
        </p:txBody>
      </p:sp>
      <p:sp>
        <p:nvSpPr>
          <p:cNvPr id="2" name="직사각형 1">
            <a:extLst>
              <a:ext uri="{FF2B5EF4-FFF2-40B4-BE49-F238E27FC236}">
                <a16:creationId xmlns:a16="http://schemas.microsoft.com/office/drawing/2014/main" id="{717B93C1-2BA2-4B10-9FD4-AC1963159174}"/>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08</a:t>
            </a:r>
          </a:p>
        </p:txBody>
      </p:sp>
      <p:sp>
        <p:nvSpPr>
          <p:cNvPr id="3" name="직사각형 2">
            <a:extLst>
              <a:ext uri="{FF2B5EF4-FFF2-40B4-BE49-F238E27FC236}">
                <a16:creationId xmlns:a16="http://schemas.microsoft.com/office/drawing/2014/main" id="{6FC9730D-AFBE-4CF7-8388-CDCB70D8561F}"/>
              </a:ext>
            </a:extLst>
          </p:cNvPr>
          <p:cNvSpPr>
            <a:spLocks noGrp="1"/>
          </p:cNvSpPr>
          <p:nvPr/>
        </p:nvSpPr>
        <p:spPr>
          <a:xfrm>
            <a:off x="609600" y="1562100"/>
            <a:ext cx="10953750" cy="571500"/>
          </a:xfrm>
          <a:prstGeom prst="rect">
            <a:avLst/>
          </a:prstGeom>
          <a:noFill/>
          <a:ln w="0">
            <a:noFill/>
          </a:ln>
        </p:spPr>
        <p:txBody>
          <a:bodyPr lIns="0" tIns="0" rIns="0" bIns="0" anchor="t"/>
          <a:lstStyle>
            <a:defPPr>
              <a:defRPr sz="2250" b="1">
                <a:solidFill>
                  <a:srgbClr val="007F83"/>
                </a:solidFill>
                <a:latin typeface="Aptos"/>
                <a:ea typeface="Aptos"/>
                <a:cs typeface="Aptos"/>
              </a:defRPr>
            </a:defPPr>
          </a:lstStyle>
          <a:p>
            <a:pPr>
              <a:defRPr sz="2250" b="1">
                <a:solidFill>
                  <a:srgbClr val="007F83"/>
                </a:solidFill>
                <a:latin typeface="Aptos"/>
                <a:ea typeface="Aptos"/>
                <a:cs typeface="Aptos"/>
              </a:defRPr>
            </a:pPr>
            <a:r>
              <a:rPr sz="2250" b="1">
                <a:solidFill>
                  <a:srgbClr val="007F83"/>
                </a:solidFill>
                <a:latin typeface="Aptos"/>
                <a:ea typeface="Aptos"/>
                <a:cs typeface="Aptos"/>
              </a:rPr>
              <a:t>English, Japanese, German, French, Spanish and Chinese</a:t>
            </a:r>
          </a:p>
        </p:txBody>
      </p:sp>
      <p:sp>
        <p:nvSpPr>
          <p:cNvPr id="4" name="직사각형 3">
            <a:extLst>
              <a:ext uri="{FF2B5EF4-FFF2-40B4-BE49-F238E27FC236}">
                <a16:creationId xmlns:a16="http://schemas.microsoft.com/office/drawing/2014/main" id="{EA90808F-EB9C-40BF-ACE2-1C43345421B6}"/>
              </a:ext>
            </a:extLst>
          </p:cNvPr>
          <p:cNvSpPr>
            <a:spLocks noGrp="1"/>
          </p:cNvSpPr>
          <p:nvPr/>
        </p:nvSpPr>
        <p:spPr>
          <a:xfrm>
            <a:off x="609600" y="25241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Available fields</a:t>
            </a:r>
          </a:p>
        </p:txBody>
      </p:sp>
      <p:sp>
        <p:nvSpPr>
          <p:cNvPr id="5" name="직사각형 4">
            <a:extLst>
              <a:ext uri="{FF2B5EF4-FFF2-40B4-BE49-F238E27FC236}">
                <a16:creationId xmlns:a16="http://schemas.microsoft.com/office/drawing/2014/main" id="{455F1AD7-3047-4EDD-BF58-DA300AA18C32}"/>
              </a:ext>
            </a:extLst>
          </p:cNvPr>
          <p:cNvSpPr>
            <a:spLocks noGrp="1"/>
          </p:cNvSpPr>
          <p:nvPr/>
        </p:nvSpPr>
        <p:spPr>
          <a:xfrm>
            <a:off x="3781425" y="25241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Review text, stars, reviewer ID, product ID and coarse category.</a:t>
            </a:r>
          </a:p>
        </p:txBody>
      </p:sp>
      <p:sp>
        <p:nvSpPr>
          <p:cNvPr id="6" name="직사각형 5">
            <a:extLst>
              <a:ext uri="{FF2B5EF4-FFF2-40B4-BE49-F238E27FC236}">
                <a16:creationId xmlns:a16="http://schemas.microsoft.com/office/drawing/2014/main" id="{89DE26DC-636B-4239-9BFC-B0BA067F955A}"/>
              </a:ext>
            </a:extLst>
          </p:cNvPr>
          <p:cNvSpPr>
            <a:spLocks noGrp="1"/>
          </p:cNvSpPr>
          <p:nvPr/>
        </p:nvSpPr>
        <p:spPr>
          <a:xfrm>
            <a:off x="609600" y="35242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Modeling idea</a:t>
            </a:r>
          </a:p>
        </p:txBody>
      </p:sp>
      <p:sp>
        <p:nvSpPr>
          <p:cNvPr id="7" name="직사각형 6">
            <a:extLst>
              <a:ext uri="{FF2B5EF4-FFF2-40B4-BE49-F238E27FC236}">
                <a16:creationId xmlns:a16="http://schemas.microsoft.com/office/drawing/2014/main" id="{0BCF5A2B-25F4-499B-B8A0-925A98A400B9}"/>
              </a:ext>
            </a:extLst>
          </p:cNvPr>
          <p:cNvSpPr>
            <a:spLocks noGrp="1"/>
          </p:cNvSpPr>
          <p:nvPr/>
        </p:nvSpPr>
        <p:spPr>
          <a:xfrm>
            <a:off x="3781425" y="35242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Transfer multilingual text features. Verify item alignment and interaction density.</a:t>
            </a:r>
          </a:p>
        </p:txBody>
      </p:sp>
      <p:sp>
        <p:nvSpPr>
          <p:cNvPr id="8" name="직사각형 7">
            <a:extLst>
              <a:ext uri="{FF2B5EF4-FFF2-40B4-BE49-F238E27FC236}">
                <a16:creationId xmlns:a16="http://schemas.microsoft.com/office/drawing/2014/main" id="{01A0EB60-329F-491C-A165-E1E8A3738E26}"/>
              </a:ext>
            </a:extLst>
          </p:cNvPr>
          <p:cNvSpPr>
            <a:spLocks noGrp="1"/>
          </p:cNvSpPr>
          <p:nvPr/>
        </p:nvSpPr>
        <p:spPr>
          <a:xfrm>
            <a:off x="609600" y="45243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Access limitation</a:t>
            </a:r>
          </a:p>
        </p:txBody>
      </p:sp>
      <p:sp>
        <p:nvSpPr>
          <p:cNvPr id="9" name="직사각형 8">
            <a:extLst>
              <a:ext uri="{FF2B5EF4-FFF2-40B4-BE49-F238E27FC236}">
                <a16:creationId xmlns:a16="http://schemas.microsoft.com/office/drawing/2014/main" id="{422EB055-48CE-4DDB-A3E0-D011A98B4FFE}"/>
              </a:ext>
            </a:extLst>
          </p:cNvPr>
          <p:cNvSpPr>
            <a:spLocks noGrp="1"/>
          </p:cNvSpPr>
          <p:nvPr/>
        </p:nvSpPr>
        <p:spPr>
          <a:xfrm>
            <a:off x="3781425" y="45243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The provider withdrew access. Choose this only with a permitted, usable copy.</a:t>
            </a:r>
          </a:p>
        </p:txBody>
      </p:sp>
      <p:sp>
        <p:nvSpPr>
          <p:cNvPr id="10" name="직사각형 9">
            <a:extLst>
              <a:ext uri="{FF2B5EF4-FFF2-40B4-BE49-F238E27FC236}">
                <a16:creationId xmlns:a16="http://schemas.microsoft.com/office/drawing/2014/main" id="{3306C380-46C3-4688-BFDE-F0B98142105F}"/>
              </a:ext>
            </a:extLst>
          </p:cNvPr>
          <p:cNvSpPr>
            <a:spLocks noGrp="1"/>
          </p:cNvSpPr>
          <p:nvPr/>
        </p:nvSpPr>
        <p:spPr>
          <a:xfrm>
            <a:off x="609600" y="5886450"/>
            <a:ext cx="47625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Research paper</a:t>
            </a:r>
          </a:p>
        </p:txBody>
      </p:sp>
      <p:sp>
        <p:nvSpPr>
          <p:cNvPr id="11" name="직사각형 10">
            <a:extLst>
              <a:ext uri="{FF2B5EF4-FFF2-40B4-BE49-F238E27FC236}">
                <a16:creationId xmlns:a16="http://schemas.microsoft.com/office/drawing/2014/main" id="{5B9FDD0D-1F2A-42AA-A360-672086FE1EBC}"/>
              </a:ext>
            </a:extLst>
          </p:cNvPr>
          <p:cNvSpPr>
            <a:spLocks noGrp="1"/>
          </p:cNvSpPr>
          <p:nvPr/>
        </p:nvSpPr>
        <p:spPr>
          <a:xfrm>
            <a:off x="5905500" y="5886450"/>
            <a:ext cx="561975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4"/>
              </a:rPr>
              <a:t>Current dataset status and historical terms</a:t>
            </a:r>
          </a:p>
        </p:txBody>
      </p:sp>
    </p:spTree>
    <p:extLst>
      <p:ext uri="{BB962C8B-B14F-4D97-AF65-F5344CB8AC3E}">
        <p14:creationId xmlns:p14="http://schemas.microsoft.com/office/powerpoint/2010/main" val="113646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AD0EACE8-9048-48BB-B607-0A70668BD806}"/>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Booking.com: next destination prediction</a:t>
            </a:r>
          </a:p>
        </p:txBody>
      </p:sp>
      <p:sp>
        <p:nvSpPr>
          <p:cNvPr id="2" name="직사각형 1">
            <a:extLst>
              <a:ext uri="{FF2B5EF4-FFF2-40B4-BE49-F238E27FC236}">
                <a16:creationId xmlns:a16="http://schemas.microsoft.com/office/drawing/2014/main" id="{68EB373C-A6C7-4A1C-8D18-9D2F7DE4CE3C}"/>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09</a:t>
            </a:r>
          </a:p>
        </p:txBody>
      </p:sp>
      <p:sp>
        <p:nvSpPr>
          <p:cNvPr id="3" name="직사각형 2">
            <a:extLst>
              <a:ext uri="{FF2B5EF4-FFF2-40B4-BE49-F238E27FC236}">
                <a16:creationId xmlns:a16="http://schemas.microsoft.com/office/drawing/2014/main" id="{AEE59227-7078-4B5B-9FD0-45EF56EF73B0}"/>
              </a:ext>
            </a:extLst>
          </p:cNvPr>
          <p:cNvSpPr>
            <a:spLocks noGrp="1"/>
          </p:cNvSpPr>
          <p:nvPr/>
        </p:nvSpPr>
        <p:spPr>
          <a:xfrm>
            <a:off x="609600" y="16573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Task</a:t>
            </a:r>
          </a:p>
        </p:txBody>
      </p:sp>
      <p:sp>
        <p:nvSpPr>
          <p:cNvPr id="4" name="직사각형 3">
            <a:extLst>
              <a:ext uri="{FF2B5EF4-FFF2-40B4-BE49-F238E27FC236}">
                <a16:creationId xmlns:a16="http://schemas.microsoft.com/office/drawing/2014/main" id="{FCBF9289-6FC4-45B6-900C-872E3CBD6421}"/>
              </a:ext>
            </a:extLst>
          </p:cNvPr>
          <p:cNvSpPr>
            <a:spLocks noGrp="1"/>
          </p:cNvSpPr>
          <p:nvPr/>
        </p:nvSpPr>
        <p:spPr>
          <a:xfrm>
            <a:off x="3781425" y="16573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Rank the next city in a multi-destination trip using earlier bookings.</a:t>
            </a:r>
          </a:p>
        </p:txBody>
      </p:sp>
      <p:sp>
        <p:nvSpPr>
          <p:cNvPr id="5" name="직사각형 4">
            <a:extLst>
              <a:ext uri="{FF2B5EF4-FFF2-40B4-BE49-F238E27FC236}">
                <a16:creationId xmlns:a16="http://schemas.microsoft.com/office/drawing/2014/main" id="{0B7A3938-1E6D-4BFF-B107-CF0744F588BA}"/>
              </a:ext>
            </a:extLst>
          </p:cNvPr>
          <p:cNvSpPr>
            <a:spLocks noGrp="1"/>
          </p:cNvSpPr>
          <p:nvPr/>
        </p:nvSpPr>
        <p:spPr>
          <a:xfrm>
            <a:off x="609600" y="27432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Country fields</a:t>
            </a:r>
          </a:p>
        </p:txBody>
      </p:sp>
      <p:sp>
        <p:nvSpPr>
          <p:cNvPr id="6" name="직사각형 5">
            <a:extLst>
              <a:ext uri="{FF2B5EF4-FFF2-40B4-BE49-F238E27FC236}">
                <a16:creationId xmlns:a16="http://schemas.microsoft.com/office/drawing/2014/main" id="{C56157A4-268D-45D3-A44D-51C975DE7D6F}"/>
              </a:ext>
            </a:extLst>
          </p:cNvPr>
          <p:cNvSpPr>
            <a:spLocks noGrp="1"/>
          </p:cNvSpPr>
          <p:nvPr/>
        </p:nvSpPr>
        <p:spPr>
          <a:xfrm>
            <a:off x="3781425" y="27432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booker_country and hotel_country use anonymized codes.</a:t>
            </a:r>
          </a:p>
        </p:txBody>
      </p:sp>
      <p:sp>
        <p:nvSpPr>
          <p:cNvPr id="7" name="직사각형 6">
            <a:extLst>
              <a:ext uri="{FF2B5EF4-FFF2-40B4-BE49-F238E27FC236}">
                <a16:creationId xmlns:a16="http://schemas.microsoft.com/office/drawing/2014/main" id="{6A029F21-F6E7-4359-A40F-85D631670E40}"/>
              </a:ext>
            </a:extLst>
          </p:cNvPr>
          <p:cNvSpPr>
            <a:spLocks noGrp="1"/>
          </p:cNvSpPr>
          <p:nvPr/>
        </p:nvSpPr>
        <p:spPr>
          <a:xfrm>
            <a:off x="609600" y="38290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Integration limit</a:t>
            </a:r>
          </a:p>
        </p:txBody>
      </p:sp>
      <p:sp>
        <p:nvSpPr>
          <p:cNvPr id="8" name="직사각형 7">
            <a:extLst>
              <a:ext uri="{FF2B5EF4-FFF2-40B4-BE49-F238E27FC236}">
                <a16:creationId xmlns:a16="http://schemas.microsoft.com/office/drawing/2014/main" id="{2A77A9A8-5A8F-4D64-A432-D1D269679508}"/>
              </a:ext>
            </a:extLst>
          </p:cNvPr>
          <p:cNvSpPr>
            <a:spLocks noGrp="1"/>
          </p:cNvSpPr>
          <p:nvPr/>
        </p:nvSpPr>
        <p:spPr>
          <a:xfrm>
            <a:off x="3781425" y="38290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No disclosed mapping to real countries. A direct WVS join is unsupported.</a:t>
            </a:r>
          </a:p>
        </p:txBody>
      </p:sp>
      <p:sp>
        <p:nvSpPr>
          <p:cNvPr id="9" name="직사각형 8">
            <a:extLst>
              <a:ext uri="{FF2B5EF4-FFF2-40B4-BE49-F238E27FC236}">
                <a16:creationId xmlns:a16="http://schemas.microsoft.com/office/drawing/2014/main" id="{AB9F64F6-0D3B-4054-9605-96EB19E685A4}"/>
              </a:ext>
            </a:extLst>
          </p:cNvPr>
          <p:cNvSpPr>
            <a:spLocks noGrp="1"/>
          </p:cNvSpPr>
          <p:nvPr/>
        </p:nvSpPr>
        <p:spPr>
          <a:xfrm>
            <a:off x="609600" y="529590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Use anonymous country groups for comparisons. Review the repository terms.</a:t>
            </a:r>
          </a:p>
        </p:txBody>
      </p:sp>
      <p:sp>
        <p:nvSpPr>
          <p:cNvPr id="10" name="직사각형 9">
            <a:extLst>
              <a:ext uri="{FF2B5EF4-FFF2-40B4-BE49-F238E27FC236}">
                <a16:creationId xmlns:a16="http://schemas.microsoft.com/office/drawing/2014/main" id="{FDB12FEE-D0BD-4ED8-813E-3281AE136898}"/>
              </a:ext>
            </a:extLst>
          </p:cNvPr>
          <p:cNvSpPr>
            <a:spLocks noGrp="1"/>
          </p:cNvSpPr>
          <p:nvPr/>
        </p:nvSpPr>
        <p:spPr>
          <a:xfrm>
            <a:off x="609600" y="5915025"/>
            <a:ext cx="104775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Official repository, sample files and evaluation notebook</a:t>
            </a:r>
          </a:p>
        </p:txBody>
      </p:sp>
    </p:spTree>
    <p:extLst>
      <p:ext uri="{BB962C8B-B14F-4D97-AF65-F5344CB8AC3E}">
        <p14:creationId xmlns:p14="http://schemas.microsoft.com/office/powerpoint/2010/main" val="165194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7465D10-7A6A-44C3-90DF-2E97E7CB37CF}"/>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Gowalla and Brightkite: mobility alternatives</a:t>
            </a:r>
          </a:p>
        </p:txBody>
      </p:sp>
      <p:sp>
        <p:nvSpPr>
          <p:cNvPr id="2" name="직사각형 1">
            <a:extLst>
              <a:ext uri="{FF2B5EF4-FFF2-40B4-BE49-F238E27FC236}">
                <a16:creationId xmlns:a16="http://schemas.microsoft.com/office/drawing/2014/main" id="{1373276F-C4F4-454E-B8DF-01D22ACAB4A4}"/>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10</a:t>
            </a:r>
          </a:p>
        </p:txBody>
      </p:sp>
      <p:graphicFrame>
        <p:nvGraphicFramePr>
          <p:cNvPr id="3" name="표 2">
            <a:extLst>
              <a:ext uri="{FF2B5EF4-FFF2-40B4-BE49-F238E27FC236}">
                <a16:creationId xmlns:a16="http://schemas.microsoft.com/office/drawing/2014/main" id="{7C57ECA4-D011-4CD0-8F17-E6111F95156D}"/>
              </a:ext>
            </a:extLst>
          </p:cNvPr>
          <p:cNvGraphicFramePr/>
          <p:nvPr/>
        </p:nvGraphicFramePr>
        <p:xfrm>
          <a:off x="609600" y="1724025"/>
          <a:ext cx="10972800" cy="2143125"/>
        </p:xfrm>
        <a:graphic>
          <a:graphicData uri="http://schemas.openxmlformats.org/drawingml/2006/table">
            <a:tbl>
              <a:tblPr/>
              <a:tblGrid>
                <a:gridCol w="2714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714375">
                <a:tc>
                  <a:txBody>
                    <a:bodyPr/>
                    <a:lstStyle/>
                    <a:p>
                      <a:r>
                        <a:rPr sz="1875" b="1">
                          <a:solidFill>
                            <a:srgbClr val="FFFFFF"/>
                          </a:solidFill>
                          <a:latin typeface="Aptos"/>
                          <a:ea typeface="Aptos"/>
                          <a:cs typeface="Aptos"/>
                        </a:rPr>
                        <a:t>Dataset</a:t>
                      </a:r>
                    </a:p>
                  </a:txBody>
                  <a:tcPr>
                    <a:solidFill>
                      <a:srgbClr val="102438"/>
                    </a:solidFill>
                  </a:tcPr>
                </a:tc>
                <a:tc>
                  <a:txBody>
                    <a:bodyPr/>
                    <a:lstStyle/>
                    <a:p>
                      <a:r>
                        <a:rPr sz="1875" b="1">
                          <a:solidFill>
                            <a:srgbClr val="FFFFFF"/>
                          </a:solidFill>
                          <a:latin typeface="Aptos"/>
                          <a:ea typeface="Aptos"/>
                          <a:cs typeface="Aptos"/>
                        </a:rPr>
                        <a:t>Behavior</a:t>
                      </a:r>
                    </a:p>
                  </a:txBody>
                  <a:tcPr>
                    <a:solidFill>
                      <a:srgbClr val="102438"/>
                    </a:solidFill>
                  </a:tcPr>
                </a:tc>
                <a:tc>
                  <a:txBody>
                    <a:bodyPr/>
                    <a:lstStyle/>
                    <a:p>
                      <a:r>
                        <a:rPr sz="1875" b="1">
                          <a:solidFill>
                            <a:srgbClr val="FFFFFF"/>
                          </a:solidFill>
                          <a:latin typeface="Aptos"/>
                          <a:ea typeface="Aptos"/>
                          <a:cs typeface="Aptos"/>
                        </a:rPr>
                        <a:t>Preparation</a:t>
                      </a:r>
                    </a:p>
                  </a:txBody>
                  <a:tcPr>
                    <a:solidFill>
                      <a:srgbClr val="102438"/>
                    </a:solidFill>
                  </a:tcPr>
                </a:tc>
                <a:extLst>
                  <a:ext uri="{0D108BD9-81ED-4DB2-BD59-A6C34878D82A}">
                    <a16:rowId xmlns:a16="http://schemas.microsoft.com/office/drawing/2014/main" val="10000"/>
                  </a:ext>
                </a:extLst>
              </a:tr>
              <a:tr h="714375">
                <a:tc>
                  <a:txBody>
                    <a:bodyPr/>
                    <a:lstStyle/>
                    <a:p>
                      <a:r>
                        <a:rPr sz="1875" b="0">
                          <a:solidFill>
                            <a:srgbClr val="183348"/>
                          </a:solidFill>
                          <a:latin typeface="Aptos"/>
                          <a:ea typeface="Aptos"/>
                          <a:cs typeface="Aptos"/>
                        </a:rPr>
                        <a:t>Gowalla</a:t>
                      </a:r>
                    </a:p>
                  </a:txBody>
                  <a:tcPr>
                    <a:solidFill>
                      <a:srgbClr val="FFFFFF"/>
                    </a:solidFill>
                  </a:tcPr>
                </a:tc>
                <a:tc>
                  <a:txBody>
                    <a:bodyPr/>
                    <a:lstStyle/>
                    <a:p>
                      <a:r>
                        <a:rPr sz="1875" b="0">
                          <a:solidFill>
                            <a:srgbClr val="183348"/>
                          </a:solidFill>
                          <a:latin typeface="Aptos"/>
                          <a:ea typeface="Aptos"/>
                          <a:cs typeface="Aptos"/>
                        </a:rPr>
                        <a:t>Check-ins and friendship network</a:t>
                      </a:r>
                    </a:p>
                  </a:txBody>
                  <a:tcPr>
                    <a:solidFill>
                      <a:srgbClr val="FFFFFF"/>
                    </a:solidFill>
                  </a:tcPr>
                </a:tc>
                <a:tc>
                  <a:txBody>
                    <a:bodyPr/>
                    <a:lstStyle/>
                    <a:p>
                      <a:r>
                        <a:rPr sz="1875" b="0">
                          <a:solidFill>
                            <a:srgbClr val="183348"/>
                          </a:solidFill>
                          <a:latin typeface="Aptos"/>
                          <a:ea typeface="Aptos"/>
                          <a:cs typeface="Aptos"/>
                        </a:rPr>
                        <a:t>Coordinate-to-country mapping</a:t>
                      </a:r>
                    </a:p>
                  </a:txBody>
                  <a:tcPr>
                    <a:solidFill>
                      <a:srgbClr val="FFFFFF"/>
                    </a:solidFill>
                  </a:tcPr>
                </a:tc>
                <a:extLst>
                  <a:ext uri="{0D108BD9-81ED-4DB2-BD59-A6C34878D82A}">
                    <a16:rowId xmlns:a16="http://schemas.microsoft.com/office/drawing/2014/main" val="10001"/>
                  </a:ext>
                </a:extLst>
              </a:tr>
              <a:tr h="714375">
                <a:tc>
                  <a:txBody>
                    <a:bodyPr/>
                    <a:lstStyle/>
                    <a:p>
                      <a:r>
                        <a:rPr sz="1875" b="0">
                          <a:solidFill>
                            <a:srgbClr val="183348"/>
                          </a:solidFill>
                          <a:latin typeface="Aptos"/>
                          <a:ea typeface="Aptos"/>
                          <a:cs typeface="Aptos"/>
                        </a:rPr>
                        <a:t>Brightkite</a:t>
                      </a:r>
                    </a:p>
                  </a:txBody>
                  <a:tcPr>
                    <a:solidFill>
                      <a:srgbClr val="EDF2F0"/>
                    </a:solidFill>
                  </a:tcPr>
                </a:tc>
                <a:tc>
                  <a:txBody>
                    <a:bodyPr/>
                    <a:lstStyle/>
                    <a:p>
                      <a:r>
                        <a:rPr sz="1875" b="0">
                          <a:solidFill>
                            <a:srgbClr val="183348"/>
                          </a:solidFill>
                          <a:latin typeface="Aptos"/>
                          <a:ea typeface="Aptos"/>
                          <a:cs typeface="Aptos"/>
                        </a:rPr>
                        <a:t>Check-ins and friendship network</a:t>
                      </a:r>
                    </a:p>
                  </a:txBody>
                  <a:tcPr>
                    <a:solidFill>
                      <a:srgbClr val="EDF2F0"/>
                    </a:solidFill>
                  </a:tcPr>
                </a:tc>
                <a:tc>
                  <a:txBody>
                    <a:bodyPr/>
                    <a:lstStyle/>
                    <a:p>
                      <a:r>
                        <a:rPr sz="1875" b="0">
                          <a:solidFill>
                            <a:srgbClr val="183348"/>
                          </a:solidFill>
                          <a:latin typeface="Aptos"/>
                          <a:ea typeface="Aptos"/>
                          <a:cs typeface="Aptos"/>
                        </a:rPr>
                        <a:t>Coordinate-to-country mapping</a:t>
                      </a:r>
                    </a:p>
                  </a:txBody>
                  <a:tcPr>
                    <a:solidFill>
                      <a:srgbClr val="EDF2F0"/>
                    </a:solidFill>
                  </a:tcPr>
                </a:tc>
                <a:extLst>
                  <a:ext uri="{0D108BD9-81ED-4DB2-BD59-A6C34878D82A}">
                    <a16:rowId xmlns:a16="http://schemas.microsoft.com/office/drawing/2014/main" val="10002"/>
                  </a:ext>
                </a:extLst>
              </a:tr>
            </a:tbl>
          </a:graphicData>
        </a:graphic>
      </p:graphicFrame>
      <p:sp>
        <p:nvSpPr>
          <p:cNvPr id="4" name="직사각형 3">
            <a:extLst>
              <a:ext uri="{FF2B5EF4-FFF2-40B4-BE49-F238E27FC236}">
                <a16:creationId xmlns:a16="http://schemas.microsoft.com/office/drawing/2014/main" id="{CB8C9D77-D326-4634-9588-67DD2E85BA29}"/>
              </a:ext>
            </a:extLst>
          </p:cNvPr>
          <p:cNvSpPr>
            <a:spLocks noGrp="1"/>
          </p:cNvSpPr>
          <p:nvPr/>
        </p:nvSpPr>
        <p:spPr>
          <a:xfrm>
            <a:off x="609600" y="4295775"/>
            <a:ext cx="10858500" cy="971550"/>
          </a:xfrm>
          <a:prstGeom prst="rect">
            <a:avLst/>
          </a:prstGeom>
          <a:noFill/>
          <a:ln w="0">
            <a:noFill/>
          </a:ln>
        </p:spPr>
        <p:txBody>
          <a:bodyPr lIns="0" tIns="0" rIns="0" bIns="0" anchor="t"/>
          <a:lstStyle>
            <a:defPPr>
              <a:defRPr sz="2100" b="0">
                <a:solidFill>
                  <a:srgbClr val="183348"/>
                </a:solidFill>
                <a:latin typeface="Aptos"/>
                <a:ea typeface="Aptos"/>
                <a:cs typeface="Aptos"/>
              </a:defRPr>
            </a:defPPr>
          </a:lstStyle>
          <a:p>
            <a:pPr>
              <a:defRPr sz="2100" b="0">
                <a:solidFill>
                  <a:srgbClr val="183348"/>
                </a:solidFill>
                <a:latin typeface="Aptos"/>
                <a:ea typeface="Aptos"/>
                <a:cs typeface="Aptos"/>
              </a:defRPr>
            </a:pPr>
            <a:r>
              <a:rPr sz="2100" b="0">
                <a:solidFill>
                  <a:srgbClr val="183348"/>
                </a:solidFill>
                <a:latin typeface="Aptos"/>
                <a:ea typeface="Aptos"/>
                <a:cs typeface="Aptos"/>
              </a:rPr>
              <a:t>Useful for geographical recommendation or social baselines.</a:t>
            </a:r>
          </a:p>
          <a:p>
            <a:pPr>
              <a:defRPr sz="2100" b="0">
                <a:solidFill>
                  <a:srgbClr val="183348"/>
                </a:solidFill>
                <a:latin typeface="Aptos"/>
                <a:ea typeface="Aptos"/>
                <a:cs typeface="Aptos"/>
              </a:defRPr>
            </a:pPr>
            <a:r>
              <a:rPr sz="2100" b="0">
                <a:solidFill>
                  <a:srgbClr val="183348"/>
                </a:solidFill>
                <a:latin typeface="Aptos"/>
                <a:ea typeface="Aptos"/>
                <a:cs typeface="Aptos"/>
              </a:rPr>
              <a:t>Historical activity and uneven country coverage limit generalization.</a:t>
            </a:r>
          </a:p>
        </p:txBody>
      </p:sp>
      <p:sp>
        <p:nvSpPr>
          <p:cNvPr id="5" name="직사각형 4">
            <a:extLst>
              <a:ext uri="{FF2B5EF4-FFF2-40B4-BE49-F238E27FC236}">
                <a16:creationId xmlns:a16="http://schemas.microsoft.com/office/drawing/2014/main" id="{A7C0C907-3FA0-4BF4-BEFE-7B39BE312EC8}"/>
              </a:ext>
            </a:extLst>
          </p:cNvPr>
          <p:cNvSpPr>
            <a:spLocks noGrp="1"/>
          </p:cNvSpPr>
          <p:nvPr/>
        </p:nvSpPr>
        <p:spPr>
          <a:xfrm>
            <a:off x="609600" y="5905500"/>
            <a:ext cx="49530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Gowalla source</a:t>
            </a:r>
          </a:p>
        </p:txBody>
      </p:sp>
      <p:sp>
        <p:nvSpPr>
          <p:cNvPr id="6" name="직사각형 5">
            <a:extLst>
              <a:ext uri="{FF2B5EF4-FFF2-40B4-BE49-F238E27FC236}">
                <a16:creationId xmlns:a16="http://schemas.microsoft.com/office/drawing/2014/main" id="{B63B8550-342C-4DAB-81D3-4BA19D407208}"/>
              </a:ext>
            </a:extLst>
          </p:cNvPr>
          <p:cNvSpPr>
            <a:spLocks noGrp="1"/>
          </p:cNvSpPr>
          <p:nvPr/>
        </p:nvSpPr>
        <p:spPr>
          <a:xfrm>
            <a:off x="6238875" y="5905500"/>
            <a:ext cx="49530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4"/>
              </a:rPr>
              <a:t>Brightkite source</a:t>
            </a:r>
          </a:p>
        </p:txBody>
      </p:sp>
    </p:spTree>
    <p:extLst>
      <p:ext uri="{BB962C8B-B14F-4D97-AF65-F5344CB8AC3E}">
        <p14:creationId xmlns:p14="http://schemas.microsoft.com/office/powerpoint/2010/main" val="72150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CB504283-8136-44DD-8FEF-957CCCCF9A30}"/>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World Values Survey: cultural context</a:t>
            </a:r>
          </a:p>
        </p:txBody>
      </p:sp>
      <p:sp>
        <p:nvSpPr>
          <p:cNvPr id="2" name="직사각형 1">
            <a:extLst>
              <a:ext uri="{FF2B5EF4-FFF2-40B4-BE49-F238E27FC236}">
                <a16:creationId xmlns:a16="http://schemas.microsoft.com/office/drawing/2014/main" id="{8AA731D5-25E0-4F8F-8420-1F658DE9C9E0}"/>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11</a:t>
            </a:r>
          </a:p>
        </p:txBody>
      </p:sp>
      <p:sp>
        <p:nvSpPr>
          <p:cNvPr id="3" name="직사각형 2">
            <a:extLst>
              <a:ext uri="{FF2B5EF4-FFF2-40B4-BE49-F238E27FC236}">
                <a16:creationId xmlns:a16="http://schemas.microsoft.com/office/drawing/2014/main" id="{413D82D2-4160-4C61-89F2-702BA8B969C9}"/>
              </a:ext>
            </a:extLst>
          </p:cNvPr>
          <p:cNvSpPr>
            <a:spLocks noGrp="1"/>
          </p:cNvSpPr>
          <p:nvPr/>
        </p:nvSpPr>
        <p:spPr>
          <a:xfrm>
            <a:off x="609600" y="16859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What it provides</a:t>
            </a:r>
          </a:p>
        </p:txBody>
      </p:sp>
      <p:sp>
        <p:nvSpPr>
          <p:cNvPr id="4" name="직사각형 3">
            <a:extLst>
              <a:ext uri="{FF2B5EF4-FFF2-40B4-BE49-F238E27FC236}">
                <a16:creationId xmlns:a16="http://schemas.microsoft.com/office/drawing/2014/main" id="{9AF470C7-0A62-4A1A-8C87-DF0F7D4CE744}"/>
              </a:ext>
            </a:extLst>
          </p:cNvPr>
          <p:cNvSpPr>
            <a:spLocks noGrp="1"/>
          </p:cNvSpPr>
          <p:nvPr/>
        </p:nvSpPr>
        <p:spPr>
          <a:xfrm>
            <a:off x="3781425" y="16859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Survey responses on values and attitudes across countries and societies.</a:t>
            </a:r>
          </a:p>
        </p:txBody>
      </p:sp>
      <p:sp>
        <p:nvSpPr>
          <p:cNvPr id="5" name="직사각형 4">
            <a:extLst>
              <a:ext uri="{FF2B5EF4-FFF2-40B4-BE49-F238E27FC236}">
                <a16:creationId xmlns:a16="http://schemas.microsoft.com/office/drawing/2014/main" id="{60D2327C-38BE-426D-A587-F0A01309C114}"/>
              </a:ext>
            </a:extLst>
          </p:cNvPr>
          <p:cNvSpPr>
            <a:spLocks noGrp="1"/>
          </p:cNvSpPr>
          <p:nvPr/>
        </p:nvSpPr>
        <p:spPr>
          <a:xfrm>
            <a:off x="609600" y="27908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Feature construction</a:t>
            </a:r>
          </a:p>
        </p:txBody>
      </p:sp>
      <p:sp>
        <p:nvSpPr>
          <p:cNvPr id="6" name="직사각형 5">
            <a:extLst>
              <a:ext uri="{FF2B5EF4-FFF2-40B4-BE49-F238E27FC236}">
                <a16:creationId xmlns:a16="http://schemas.microsoft.com/office/drawing/2014/main" id="{56456792-BEF7-4767-AF68-091E086823BC}"/>
              </a:ext>
            </a:extLst>
          </p:cNvPr>
          <p:cNvSpPr>
            <a:spLocks noGrp="1"/>
          </p:cNvSpPr>
          <p:nvPr/>
        </p:nvSpPr>
        <p:spPr>
          <a:xfrm>
            <a:off x="3781425" y="27908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Select comparable items. Compute weighted country aggregates.</a:t>
            </a:r>
          </a:p>
        </p:txBody>
      </p:sp>
      <p:sp>
        <p:nvSpPr>
          <p:cNvPr id="7" name="직사각형 6">
            <a:extLst>
              <a:ext uri="{FF2B5EF4-FFF2-40B4-BE49-F238E27FC236}">
                <a16:creationId xmlns:a16="http://schemas.microsoft.com/office/drawing/2014/main" id="{B2EA1A4A-3E70-4172-94B3-2517EE9E53DE}"/>
              </a:ext>
            </a:extLst>
          </p:cNvPr>
          <p:cNvSpPr>
            <a:spLocks noGrp="1"/>
          </p:cNvSpPr>
          <p:nvPr/>
        </p:nvSpPr>
        <p:spPr>
          <a:xfrm>
            <a:off x="609600" y="38957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Interpretation</a:t>
            </a:r>
          </a:p>
        </p:txBody>
      </p:sp>
      <p:sp>
        <p:nvSpPr>
          <p:cNvPr id="8" name="직사각형 7">
            <a:extLst>
              <a:ext uri="{FF2B5EF4-FFF2-40B4-BE49-F238E27FC236}">
                <a16:creationId xmlns:a16="http://schemas.microsoft.com/office/drawing/2014/main" id="{36A46038-DF30-4A69-84A9-BEB69DA3706E}"/>
              </a:ext>
            </a:extLst>
          </p:cNvPr>
          <p:cNvSpPr>
            <a:spLocks noGrp="1"/>
          </p:cNvSpPr>
          <p:nvPr/>
        </p:nvSpPr>
        <p:spPr>
          <a:xfrm>
            <a:off x="3781425" y="38957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Country averages provide context. They cannot establish individual values.</a:t>
            </a:r>
          </a:p>
        </p:txBody>
      </p:sp>
      <p:sp>
        <p:nvSpPr>
          <p:cNvPr id="9" name="직사각형 8">
            <a:extLst>
              <a:ext uri="{FF2B5EF4-FFF2-40B4-BE49-F238E27FC236}">
                <a16:creationId xmlns:a16="http://schemas.microsoft.com/office/drawing/2014/main" id="{A5DCB915-2211-4CE1-9C7C-6A991789DED1}"/>
              </a:ext>
            </a:extLst>
          </p:cNvPr>
          <p:cNvSpPr>
            <a:spLocks noGrp="1"/>
          </p:cNvSpPr>
          <p:nvPr/>
        </p:nvSpPr>
        <p:spPr>
          <a:xfrm>
            <a:off x="609600" y="529590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Match survey timing to behavior data and document any temporal mismatch.</a:t>
            </a:r>
          </a:p>
        </p:txBody>
      </p:sp>
      <p:sp>
        <p:nvSpPr>
          <p:cNvPr id="10" name="직사각형 9">
            <a:extLst>
              <a:ext uri="{FF2B5EF4-FFF2-40B4-BE49-F238E27FC236}">
                <a16:creationId xmlns:a16="http://schemas.microsoft.com/office/drawing/2014/main" id="{092AD3B7-9491-46A2-85DA-5A9A341B58B4}"/>
              </a:ext>
            </a:extLst>
          </p:cNvPr>
          <p:cNvSpPr>
            <a:spLocks noGrp="1"/>
          </p:cNvSpPr>
          <p:nvPr/>
        </p:nvSpPr>
        <p:spPr>
          <a:xfrm>
            <a:off x="609600" y="5905500"/>
            <a:ext cx="104775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Wave 7 data, questionnaires and documentation</a:t>
            </a:r>
          </a:p>
        </p:txBody>
      </p:sp>
    </p:spTree>
    <p:extLst>
      <p:ext uri="{BB962C8B-B14F-4D97-AF65-F5344CB8AC3E}">
        <p14:creationId xmlns:p14="http://schemas.microsoft.com/office/powerpoint/2010/main" val="63852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771353B7-70FB-4BC7-A63C-7EB6BF1FC767}"/>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Behavioral and cultural data integration</a:t>
            </a:r>
          </a:p>
        </p:txBody>
      </p:sp>
      <p:sp>
        <p:nvSpPr>
          <p:cNvPr id="2" name="직사각형 1">
            <a:extLst>
              <a:ext uri="{FF2B5EF4-FFF2-40B4-BE49-F238E27FC236}">
                <a16:creationId xmlns:a16="http://schemas.microsoft.com/office/drawing/2014/main" id="{B4FB2F7A-DDD6-49AE-804F-58C64D16AF15}"/>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12</a:t>
            </a:r>
          </a:p>
        </p:txBody>
      </p:sp>
      <p:graphicFrame>
        <p:nvGraphicFramePr>
          <p:cNvPr id="3" name="표 2">
            <a:extLst>
              <a:ext uri="{FF2B5EF4-FFF2-40B4-BE49-F238E27FC236}">
                <a16:creationId xmlns:a16="http://schemas.microsoft.com/office/drawing/2014/main" id="{9DF8B4F5-BE9E-4905-9D0B-D8C33C1621C7}"/>
              </a:ext>
            </a:extLst>
          </p:cNvPr>
          <p:cNvGraphicFramePr/>
          <p:nvPr/>
        </p:nvGraphicFramePr>
        <p:xfrm>
          <a:off x="609600" y="1562100"/>
          <a:ext cx="10972800" cy="3333750"/>
        </p:xfrm>
        <a:graphic>
          <a:graphicData uri="http://schemas.openxmlformats.org/drawingml/2006/table">
            <a:tbl>
              <a:tblPr/>
              <a:tblGrid>
                <a:gridCol w="2714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666750">
                <a:tc>
                  <a:txBody>
                    <a:bodyPr/>
                    <a:lstStyle/>
                    <a:p>
                      <a:r>
                        <a:rPr sz="1800" b="1">
                          <a:solidFill>
                            <a:srgbClr val="FFFFFF"/>
                          </a:solidFill>
                          <a:latin typeface="Aptos"/>
                          <a:ea typeface="Aptos"/>
                          <a:cs typeface="Aptos"/>
                        </a:rPr>
                        <a:t>Layer</a:t>
                      </a:r>
                    </a:p>
                  </a:txBody>
                  <a:tcPr>
                    <a:solidFill>
                      <a:srgbClr val="102438"/>
                    </a:solidFill>
                  </a:tcPr>
                </a:tc>
                <a:tc>
                  <a:txBody>
                    <a:bodyPr/>
                    <a:lstStyle/>
                    <a:p>
                      <a:r>
                        <a:rPr sz="1800" b="1">
                          <a:solidFill>
                            <a:srgbClr val="FFFFFF"/>
                          </a:solidFill>
                          <a:latin typeface="Aptos"/>
                          <a:ea typeface="Aptos"/>
                          <a:cs typeface="Aptos"/>
                        </a:rPr>
                        <a:t>Grain / key</a:t>
                      </a:r>
                    </a:p>
                  </a:txBody>
                  <a:tcPr>
                    <a:solidFill>
                      <a:srgbClr val="102438"/>
                    </a:solidFill>
                  </a:tcPr>
                </a:tc>
                <a:tc>
                  <a:txBody>
                    <a:bodyPr/>
                    <a:lstStyle/>
                    <a:p>
                      <a:r>
                        <a:rPr sz="1800" b="1">
                          <a:solidFill>
                            <a:srgbClr val="FFFFFF"/>
                          </a:solidFill>
                          <a:latin typeface="Aptos"/>
                          <a:ea typeface="Aptos"/>
                          <a:cs typeface="Aptos"/>
                        </a:rPr>
                        <a:t>Example fields</a:t>
                      </a:r>
                    </a:p>
                  </a:txBody>
                  <a:tcPr>
                    <a:solidFill>
                      <a:srgbClr val="102438"/>
                    </a:solidFill>
                  </a:tcPr>
                </a:tc>
                <a:extLst>
                  <a:ext uri="{0D108BD9-81ED-4DB2-BD59-A6C34878D82A}">
                    <a16:rowId xmlns:a16="http://schemas.microsoft.com/office/drawing/2014/main" val="10000"/>
                  </a:ext>
                </a:extLst>
              </a:tr>
              <a:tr h="666750">
                <a:tc>
                  <a:txBody>
                    <a:bodyPr/>
                    <a:lstStyle/>
                    <a:p>
                      <a:r>
                        <a:rPr sz="1800" b="0">
                          <a:solidFill>
                            <a:srgbClr val="183348"/>
                          </a:solidFill>
                          <a:latin typeface="Aptos"/>
                          <a:ea typeface="Aptos"/>
                          <a:cs typeface="Aptos"/>
                        </a:rPr>
                        <a:t>Behavior</a:t>
                      </a:r>
                    </a:p>
                  </a:txBody>
                  <a:tcPr>
                    <a:solidFill>
                      <a:srgbClr val="FFFFFF"/>
                    </a:solidFill>
                  </a:tcPr>
                </a:tc>
                <a:tc>
                  <a:txBody>
                    <a:bodyPr/>
                    <a:lstStyle/>
                    <a:p>
                      <a:r>
                        <a:rPr sz="1800" b="0">
                          <a:solidFill>
                            <a:srgbClr val="183348"/>
                          </a:solidFill>
                          <a:latin typeface="Aptos"/>
                          <a:ea typeface="Aptos"/>
                          <a:cs typeface="Aptos"/>
                        </a:rPr>
                        <a:t>One event: user, item, time</a:t>
                      </a:r>
                    </a:p>
                  </a:txBody>
                  <a:tcPr>
                    <a:solidFill>
                      <a:srgbClr val="FFFFFF"/>
                    </a:solidFill>
                  </a:tcPr>
                </a:tc>
                <a:tc>
                  <a:txBody>
                    <a:bodyPr/>
                    <a:lstStyle/>
                    <a:p>
                      <a:r>
                        <a:rPr sz="1800" b="0">
                          <a:solidFill>
                            <a:srgbClr val="183348"/>
                          </a:solidFill>
                          <a:latin typeface="Aptos"/>
                          <a:ea typeface="Aptos"/>
                          <a:cs typeface="Aptos"/>
                        </a:rPr>
                        <a:t>Listen, check-in or rating</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83348"/>
                          </a:solidFill>
                          <a:latin typeface="Aptos"/>
                          <a:ea typeface="Aptos"/>
                          <a:cs typeface="Aptos"/>
                        </a:rPr>
                        <a:t>User context</a:t>
                      </a:r>
                    </a:p>
                  </a:txBody>
                  <a:tcPr>
                    <a:solidFill>
                      <a:srgbClr val="EDF2F0"/>
                    </a:solidFill>
                  </a:tcPr>
                </a:tc>
                <a:tc>
                  <a:txBody>
                    <a:bodyPr/>
                    <a:lstStyle/>
                    <a:p>
                      <a:r>
                        <a:rPr sz="1800" b="0">
                          <a:solidFill>
                            <a:srgbClr val="183348"/>
                          </a:solidFill>
                          <a:latin typeface="Aptos"/>
                          <a:ea typeface="Aptos"/>
                          <a:cs typeface="Aptos"/>
                        </a:rPr>
                        <a:t>One user: user_id, ISO country</a:t>
                      </a:r>
                    </a:p>
                  </a:txBody>
                  <a:tcPr>
                    <a:solidFill>
                      <a:srgbClr val="EDF2F0"/>
                    </a:solidFill>
                  </a:tcPr>
                </a:tc>
                <a:tc>
                  <a:txBody>
                    <a:bodyPr/>
                    <a:lstStyle/>
                    <a:p>
                      <a:r>
                        <a:rPr sz="1800" b="0">
                          <a:solidFill>
                            <a:srgbClr val="183348"/>
                          </a:solidFill>
                          <a:latin typeface="Aptos"/>
                          <a:ea typeface="Aptos"/>
                          <a:cs typeface="Aptos"/>
                        </a:rPr>
                        <a:t>Profile country or residence estimate</a:t>
                      </a:r>
                    </a:p>
                  </a:txBody>
                  <a:tcPr>
                    <a:solidFill>
                      <a:srgbClr val="EDF2F0"/>
                    </a:solidFill>
                  </a:tcPr>
                </a:tc>
                <a:extLst>
                  <a:ext uri="{0D108BD9-81ED-4DB2-BD59-A6C34878D82A}">
                    <a16:rowId xmlns:a16="http://schemas.microsoft.com/office/drawing/2014/main" val="10002"/>
                  </a:ext>
                </a:extLst>
              </a:tr>
              <a:tr h="666750">
                <a:tc>
                  <a:txBody>
                    <a:bodyPr/>
                    <a:lstStyle/>
                    <a:p>
                      <a:r>
                        <a:rPr sz="1800" b="0">
                          <a:solidFill>
                            <a:srgbClr val="183348"/>
                          </a:solidFill>
                          <a:latin typeface="Aptos"/>
                          <a:ea typeface="Aptos"/>
                          <a:cs typeface="Aptos"/>
                        </a:rPr>
                        <a:t>Cultural context</a:t>
                      </a:r>
                    </a:p>
                  </a:txBody>
                  <a:tcPr>
                    <a:solidFill>
                      <a:srgbClr val="FFFFFF"/>
                    </a:solidFill>
                  </a:tcPr>
                </a:tc>
                <a:tc>
                  <a:txBody>
                    <a:bodyPr/>
                    <a:lstStyle/>
                    <a:p>
                      <a:r>
                        <a:rPr sz="1800" b="0">
                          <a:solidFill>
                            <a:srgbClr val="183348"/>
                          </a:solidFill>
                          <a:latin typeface="Aptos"/>
                          <a:ea typeface="Aptos"/>
                          <a:cs typeface="Aptos"/>
                        </a:rPr>
                        <a:t>One country and survey wave</a:t>
                      </a:r>
                    </a:p>
                  </a:txBody>
                  <a:tcPr>
                    <a:solidFill>
                      <a:srgbClr val="FFFFFF"/>
                    </a:solidFill>
                  </a:tcPr>
                </a:tc>
                <a:tc>
                  <a:txBody>
                    <a:bodyPr/>
                    <a:lstStyle/>
                    <a:p>
                      <a:r>
                        <a:rPr sz="1800" b="0">
                          <a:solidFill>
                            <a:srgbClr val="183348"/>
                          </a:solidFill>
                          <a:latin typeface="Aptos"/>
                          <a:ea typeface="Aptos"/>
                          <a:cs typeface="Aptos"/>
                        </a:rPr>
                        <a:t>Weighted trust / value indicators</a:t>
                      </a:r>
                    </a:p>
                  </a:txBody>
                  <a:tcPr>
                    <a:solidFill>
                      <a:srgbClr val="FFFFFF"/>
                    </a:solidFill>
                  </a:tcPr>
                </a:tc>
                <a:extLst>
                  <a:ext uri="{0D108BD9-81ED-4DB2-BD59-A6C34878D82A}">
                    <a16:rowId xmlns:a16="http://schemas.microsoft.com/office/drawing/2014/main" val="10003"/>
                  </a:ext>
                </a:extLst>
              </a:tr>
              <a:tr h="666750">
                <a:tc>
                  <a:txBody>
                    <a:bodyPr/>
                    <a:lstStyle/>
                    <a:p>
                      <a:r>
                        <a:rPr sz="1800" b="0">
                          <a:solidFill>
                            <a:srgbClr val="183348"/>
                          </a:solidFill>
                          <a:latin typeface="Aptos"/>
                          <a:ea typeface="Aptos"/>
                          <a:cs typeface="Aptos"/>
                        </a:rPr>
                        <a:t>Model input</a:t>
                      </a:r>
                    </a:p>
                  </a:txBody>
                  <a:tcPr>
                    <a:solidFill>
                      <a:srgbClr val="EDF2F0"/>
                    </a:solidFill>
                  </a:tcPr>
                </a:tc>
                <a:tc>
                  <a:txBody>
                    <a:bodyPr/>
                    <a:lstStyle/>
                    <a:p>
                      <a:r>
                        <a:rPr sz="1800" b="0">
                          <a:solidFill>
                            <a:srgbClr val="183348"/>
                          </a:solidFill>
                          <a:latin typeface="Aptos"/>
                          <a:ea typeface="Aptos"/>
                          <a:cs typeface="Aptos"/>
                        </a:rPr>
                        <a:t>Event plus context features</a:t>
                      </a:r>
                    </a:p>
                  </a:txBody>
                  <a:tcPr>
                    <a:solidFill>
                      <a:srgbClr val="EDF2F0"/>
                    </a:solidFill>
                  </a:tcPr>
                </a:tc>
                <a:tc>
                  <a:txBody>
                    <a:bodyPr/>
                    <a:lstStyle/>
                    <a:p>
                      <a:r>
                        <a:rPr sz="1800" b="0">
                          <a:solidFill>
                            <a:srgbClr val="183348"/>
                          </a:solidFill>
                          <a:latin typeface="Aptos"/>
                          <a:ea typeface="Aptos"/>
                          <a:cs typeface="Aptos"/>
                        </a:rPr>
                        <a:t>Behavior features + country vector</a:t>
                      </a:r>
                    </a:p>
                  </a:txBody>
                  <a:tcPr>
                    <a:solidFill>
                      <a:srgbClr val="EDF2F0"/>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3679C30D-6B32-4AA0-A526-785744A4C144}"/>
              </a:ext>
            </a:extLst>
          </p:cNvPr>
          <p:cNvSpPr>
            <a:spLocks noGrp="1"/>
          </p:cNvSpPr>
          <p:nvPr/>
        </p:nvSpPr>
        <p:spPr>
          <a:xfrm>
            <a:off x="609600" y="525780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A country-key join adds context without linking individuals across datasets.</a:t>
            </a:r>
          </a:p>
        </p:txBody>
      </p:sp>
      <p:sp>
        <p:nvSpPr>
          <p:cNvPr id="5" name="직사각형 4">
            <a:extLst>
              <a:ext uri="{FF2B5EF4-FFF2-40B4-BE49-F238E27FC236}">
                <a16:creationId xmlns:a16="http://schemas.microsoft.com/office/drawing/2014/main" id="{C5E89313-47AB-4BDC-8628-FA5C280BEDAF}"/>
              </a:ext>
            </a:extLst>
          </p:cNvPr>
          <p:cNvSpPr>
            <a:spLocks noGrp="1"/>
          </p:cNvSpPr>
          <p:nvPr/>
        </p:nvSpPr>
        <p:spPr>
          <a:xfrm>
            <a:off x="609600" y="5848350"/>
            <a:ext cx="10858500" cy="400050"/>
          </a:xfrm>
          <a:prstGeom prst="rect">
            <a:avLst/>
          </a:prstGeom>
          <a:noFill/>
          <a:ln w="0">
            <a:noFill/>
          </a:ln>
        </p:spPr>
        <p:txBody>
          <a:bodyPr lIns="0" tIns="0" rIns="0" bIns="0" anchor="t"/>
          <a:lstStyle>
            <a:defPPr>
              <a:defRPr sz="1800" b="0">
                <a:solidFill>
                  <a:srgbClr val="183348"/>
                </a:solidFill>
                <a:latin typeface="Aptos"/>
                <a:ea typeface="Aptos"/>
                <a:cs typeface="Aptos"/>
              </a:defRPr>
            </a:defPPr>
          </a:lstStyle>
          <a:p>
            <a:pPr>
              <a:defRPr sz="1800" b="0">
                <a:solidFill>
                  <a:srgbClr val="183348"/>
                </a:solidFill>
                <a:latin typeface="Aptos"/>
                <a:ea typeface="Aptos"/>
                <a:cs typeface="Aptos"/>
              </a:defRPr>
            </a:pPr>
            <a:r>
              <a:rPr sz="1800" b="0">
                <a:solidFill>
                  <a:srgbClr val="183348"/>
                </a:solidFill>
                <a:latin typeface="Aptos"/>
                <a:ea typeface="Aptos"/>
                <a:cs typeface="Aptos"/>
              </a:rPr>
              <a:t>Report unmatched countries and uncertain residence estimates.</a:t>
            </a:r>
          </a:p>
        </p:txBody>
      </p:sp>
    </p:spTree>
    <p:extLst>
      <p:ext uri="{BB962C8B-B14F-4D97-AF65-F5344CB8AC3E}">
        <p14:creationId xmlns:p14="http://schemas.microsoft.com/office/powerpoint/2010/main" val="111940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884785D4-EC02-44D8-A3DA-961662BD4481}"/>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Preprocessing and leakage control</a:t>
            </a:r>
          </a:p>
        </p:txBody>
      </p:sp>
      <p:sp>
        <p:nvSpPr>
          <p:cNvPr id="2" name="직사각형 1">
            <a:extLst>
              <a:ext uri="{FF2B5EF4-FFF2-40B4-BE49-F238E27FC236}">
                <a16:creationId xmlns:a16="http://schemas.microsoft.com/office/drawing/2014/main" id="{1BACD8C9-8B29-4BD7-AB07-2DBB8E5AEB8B}"/>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13</a:t>
            </a:r>
          </a:p>
        </p:txBody>
      </p:sp>
      <p:sp>
        <p:nvSpPr>
          <p:cNvPr id="3" name="직사각형 2">
            <a:extLst>
              <a:ext uri="{FF2B5EF4-FFF2-40B4-BE49-F238E27FC236}">
                <a16:creationId xmlns:a16="http://schemas.microsoft.com/office/drawing/2014/main" id="{A2A1AFA7-5FC5-4D1B-AFBE-72B4B78D218E}"/>
              </a:ext>
            </a:extLst>
          </p:cNvPr>
          <p:cNvSpPr>
            <a:spLocks noGrp="1"/>
          </p:cNvSpPr>
          <p:nvPr/>
        </p:nvSpPr>
        <p:spPr>
          <a:xfrm>
            <a:off x="609600" y="15811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1. Data audit</a:t>
            </a:r>
          </a:p>
        </p:txBody>
      </p:sp>
      <p:sp>
        <p:nvSpPr>
          <p:cNvPr id="4" name="직사각형 3">
            <a:extLst>
              <a:ext uri="{FF2B5EF4-FFF2-40B4-BE49-F238E27FC236}">
                <a16:creationId xmlns:a16="http://schemas.microsoft.com/office/drawing/2014/main" id="{14E1B2EC-389D-4436-A70B-0BDE52D3EF88}"/>
              </a:ext>
            </a:extLst>
          </p:cNvPr>
          <p:cNvSpPr>
            <a:spLocks noGrp="1"/>
          </p:cNvSpPr>
          <p:nvPr/>
        </p:nvSpPr>
        <p:spPr>
          <a:xfrm>
            <a:off x="3781425" y="15811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Record version, dates, terms, missingness and country sample sizes.</a:t>
            </a:r>
          </a:p>
        </p:txBody>
      </p:sp>
      <p:sp>
        <p:nvSpPr>
          <p:cNvPr id="5" name="직사각형 4">
            <a:extLst>
              <a:ext uri="{FF2B5EF4-FFF2-40B4-BE49-F238E27FC236}">
                <a16:creationId xmlns:a16="http://schemas.microsoft.com/office/drawing/2014/main" id="{630D0F35-BB61-401D-BC60-7A3744BA6268}"/>
              </a:ext>
            </a:extLst>
          </p:cNvPr>
          <p:cNvSpPr>
            <a:spLocks noGrp="1"/>
          </p:cNvSpPr>
          <p:nvPr/>
        </p:nvSpPr>
        <p:spPr>
          <a:xfrm>
            <a:off x="609600" y="26098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2. Stable identifiers</a:t>
            </a:r>
          </a:p>
        </p:txBody>
      </p:sp>
      <p:sp>
        <p:nvSpPr>
          <p:cNvPr id="6" name="직사각형 5">
            <a:extLst>
              <a:ext uri="{FF2B5EF4-FFF2-40B4-BE49-F238E27FC236}">
                <a16:creationId xmlns:a16="http://schemas.microsoft.com/office/drawing/2014/main" id="{2B716BE7-3F33-401F-A63F-1A73693DF080}"/>
              </a:ext>
            </a:extLst>
          </p:cNvPr>
          <p:cNvSpPr>
            <a:spLocks noGrp="1"/>
          </p:cNvSpPr>
          <p:nvPr/>
        </p:nvSpPr>
        <p:spPr>
          <a:xfrm>
            <a:off x="3781425" y="26098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Deduplicate events. Normalize item IDs and country codes.</a:t>
            </a:r>
          </a:p>
        </p:txBody>
      </p:sp>
      <p:sp>
        <p:nvSpPr>
          <p:cNvPr id="7" name="직사각형 6">
            <a:extLst>
              <a:ext uri="{FF2B5EF4-FFF2-40B4-BE49-F238E27FC236}">
                <a16:creationId xmlns:a16="http://schemas.microsoft.com/office/drawing/2014/main" id="{E4EA10B1-9D2D-4454-9059-F386C8729DD2}"/>
              </a:ext>
            </a:extLst>
          </p:cNvPr>
          <p:cNvSpPr>
            <a:spLocks noGrp="1"/>
          </p:cNvSpPr>
          <p:nvPr/>
        </p:nvSpPr>
        <p:spPr>
          <a:xfrm>
            <a:off x="609600" y="36385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3. Interaction design</a:t>
            </a:r>
          </a:p>
        </p:txBody>
      </p:sp>
      <p:sp>
        <p:nvSpPr>
          <p:cNvPr id="8" name="직사각형 7">
            <a:extLst>
              <a:ext uri="{FF2B5EF4-FFF2-40B4-BE49-F238E27FC236}">
                <a16:creationId xmlns:a16="http://schemas.microsoft.com/office/drawing/2014/main" id="{4BC41021-6A3A-459D-B210-E79751BB14C3}"/>
              </a:ext>
            </a:extLst>
          </p:cNvPr>
          <p:cNvSpPr>
            <a:spLocks noGrp="1"/>
          </p:cNvSpPr>
          <p:nvPr/>
        </p:nvSpPr>
        <p:spPr>
          <a:xfrm>
            <a:off x="3781425" y="36385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Define relevance and minimum history. Publish retained sample counts.</a:t>
            </a:r>
          </a:p>
        </p:txBody>
      </p:sp>
      <p:sp>
        <p:nvSpPr>
          <p:cNvPr id="9" name="직사각형 8">
            <a:extLst>
              <a:ext uri="{FF2B5EF4-FFF2-40B4-BE49-F238E27FC236}">
                <a16:creationId xmlns:a16="http://schemas.microsoft.com/office/drawing/2014/main" id="{34DA3F92-BCBA-4986-B602-78EFAD32683C}"/>
              </a:ext>
            </a:extLst>
          </p:cNvPr>
          <p:cNvSpPr>
            <a:spLocks noGrp="1"/>
          </p:cNvSpPr>
          <p:nvPr/>
        </p:nvSpPr>
        <p:spPr>
          <a:xfrm>
            <a:off x="609600" y="46672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4. Training-only fit</a:t>
            </a:r>
          </a:p>
        </p:txBody>
      </p:sp>
      <p:sp>
        <p:nvSpPr>
          <p:cNvPr id="10" name="직사각형 9">
            <a:extLst>
              <a:ext uri="{FF2B5EF4-FFF2-40B4-BE49-F238E27FC236}">
                <a16:creationId xmlns:a16="http://schemas.microsoft.com/office/drawing/2014/main" id="{0F363047-CF03-4645-934B-8F1ED2447155}"/>
              </a:ext>
            </a:extLst>
          </p:cNvPr>
          <p:cNvSpPr>
            <a:spLocks noGrp="1"/>
          </p:cNvSpPr>
          <p:nvPr/>
        </p:nvSpPr>
        <p:spPr>
          <a:xfrm>
            <a:off x="3781425" y="46672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Create splits first. Fit scaling and learned features using training data.</a:t>
            </a:r>
          </a:p>
        </p:txBody>
      </p:sp>
      <p:sp>
        <p:nvSpPr>
          <p:cNvPr id="11" name="직사각형 10">
            <a:extLst>
              <a:ext uri="{FF2B5EF4-FFF2-40B4-BE49-F238E27FC236}">
                <a16:creationId xmlns:a16="http://schemas.microsoft.com/office/drawing/2014/main" id="{7675AF15-D445-4AEA-B7FC-4841A6EB36F0}"/>
              </a:ext>
            </a:extLst>
          </p:cNvPr>
          <p:cNvSpPr>
            <a:spLocks noGrp="1"/>
          </p:cNvSpPr>
          <p:nvPr/>
        </p:nvSpPr>
        <p:spPr>
          <a:xfrm>
            <a:off x="609600" y="5800725"/>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Test interactions must not affect residence inference or model features.</a:t>
            </a:r>
          </a:p>
        </p:txBody>
      </p:sp>
    </p:spTree>
    <p:extLst>
      <p:ext uri="{BB962C8B-B14F-4D97-AF65-F5344CB8AC3E}">
        <p14:creationId xmlns:p14="http://schemas.microsoft.com/office/powerpoint/2010/main" val="140978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D4255BD7-631A-4116-806F-8FF746199FE0}"/>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Model comparison</a:t>
            </a:r>
          </a:p>
        </p:txBody>
      </p:sp>
      <p:sp>
        <p:nvSpPr>
          <p:cNvPr id="2" name="직사각형 1">
            <a:extLst>
              <a:ext uri="{FF2B5EF4-FFF2-40B4-BE49-F238E27FC236}">
                <a16:creationId xmlns:a16="http://schemas.microsoft.com/office/drawing/2014/main" id="{0D407232-DE64-411C-9AE8-2099FCFFCFBF}"/>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14</a:t>
            </a:r>
          </a:p>
        </p:txBody>
      </p:sp>
      <p:graphicFrame>
        <p:nvGraphicFramePr>
          <p:cNvPr id="3" name="표 2">
            <a:extLst>
              <a:ext uri="{FF2B5EF4-FFF2-40B4-BE49-F238E27FC236}">
                <a16:creationId xmlns:a16="http://schemas.microsoft.com/office/drawing/2014/main" id="{874BA16F-7B42-47A4-B300-8F5C4490C0EE}"/>
              </a:ext>
            </a:extLst>
          </p:cNvPr>
          <p:cNvGraphicFramePr/>
          <p:nvPr/>
        </p:nvGraphicFramePr>
        <p:xfrm>
          <a:off x="609600" y="1609725"/>
          <a:ext cx="10972800" cy="3352800"/>
        </p:xfrm>
        <a:graphic>
          <a:graphicData uri="http://schemas.openxmlformats.org/drawingml/2006/table">
            <a:tbl>
              <a:tblPr/>
              <a:tblGrid>
                <a:gridCol w="2714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670560">
                <a:tc>
                  <a:txBody>
                    <a:bodyPr/>
                    <a:lstStyle/>
                    <a:p>
                      <a:r>
                        <a:rPr sz="1800" b="1">
                          <a:solidFill>
                            <a:srgbClr val="FFFFFF"/>
                          </a:solidFill>
                          <a:latin typeface="Aptos"/>
                          <a:ea typeface="Aptos"/>
                          <a:cs typeface="Aptos"/>
                        </a:rPr>
                        <a:t>Model</a:t>
                      </a:r>
                    </a:p>
                  </a:txBody>
                  <a:tcPr>
                    <a:solidFill>
                      <a:srgbClr val="102438"/>
                    </a:solidFill>
                  </a:tcPr>
                </a:tc>
                <a:tc>
                  <a:txBody>
                    <a:bodyPr/>
                    <a:lstStyle/>
                    <a:p>
                      <a:r>
                        <a:rPr sz="1800" b="1">
                          <a:solidFill>
                            <a:srgbClr val="FFFFFF"/>
                          </a:solidFill>
                          <a:latin typeface="Aptos"/>
                          <a:ea typeface="Aptos"/>
                          <a:cs typeface="Aptos"/>
                        </a:rPr>
                        <a:t>Information used</a:t>
                      </a:r>
                    </a:p>
                  </a:txBody>
                  <a:tcPr>
                    <a:solidFill>
                      <a:srgbClr val="102438"/>
                    </a:solidFill>
                  </a:tcPr>
                </a:tc>
                <a:tc>
                  <a:txBody>
                    <a:bodyPr/>
                    <a:lstStyle/>
                    <a:p>
                      <a:r>
                        <a:rPr sz="1800" b="1">
                          <a:solidFill>
                            <a:srgbClr val="FFFFFF"/>
                          </a:solidFill>
                          <a:latin typeface="Aptos"/>
                          <a:ea typeface="Aptos"/>
                          <a:cs typeface="Aptos"/>
                        </a:rPr>
                        <a:t>Role in the experiment</a:t>
                      </a:r>
                    </a:p>
                  </a:txBody>
                  <a:tcPr>
                    <a:solidFill>
                      <a:srgbClr val="102438"/>
                    </a:solidFill>
                  </a:tcPr>
                </a:tc>
                <a:extLst>
                  <a:ext uri="{0D108BD9-81ED-4DB2-BD59-A6C34878D82A}">
                    <a16:rowId xmlns:a16="http://schemas.microsoft.com/office/drawing/2014/main" val="10000"/>
                  </a:ext>
                </a:extLst>
              </a:tr>
              <a:tr h="670560">
                <a:tc>
                  <a:txBody>
                    <a:bodyPr/>
                    <a:lstStyle/>
                    <a:p>
                      <a:r>
                        <a:rPr sz="1800" b="0">
                          <a:solidFill>
                            <a:srgbClr val="183348"/>
                          </a:solidFill>
                          <a:latin typeface="Aptos"/>
                          <a:ea typeface="Aptos"/>
                          <a:cs typeface="Aptos"/>
                        </a:rPr>
                        <a:t>Popularity baseline</a:t>
                      </a:r>
                    </a:p>
                  </a:txBody>
                  <a:tcPr>
                    <a:solidFill>
                      <a:srgbClr val="FFFFFF"/>
                    </a:solidFill>
                  </a:tcPr>
                </a:tc>
                <a:tc>
                  <a:txBody>
                    <a:bodyPr/>
                    <a:lstStyle/>
                    <a:p>
                      <a:r>
                        <a:rPr sz="1800" b="0">
                          <a:solidFill>
                            <a:srgbClr val="183348"/>
                          </a:solidFill>
                          <a:latin typeface="Aptos"/>
                          <a:ea typeface="Aptos"/>
                          <a:cs typeface="Aptos"/>
                        </a:rPr>
                        <a:t>Global or target-country counts</a:t>
                      </a:r>
                    </a:p>
                  </a:txBody>
                  <a:tcPr>
                    <a:solidFill>
                      <a:srgbClr val="FFFFFF"/>
                    </a:solidFill>
                  </a:tcPr>
                </a:tc>
                <a:tc>
                  <a:txBody>
                    <a:bodyPr/>
                    <a:lstStyle/>
                    <a:p>
                      <a:r>
                        <a:rPr sz="1800" b="0">
                          <a:solidFill>
                            <a:srgbClr val="183348"/>
                          </a:solidFill>
                          <a:latin typeface="Aptos"/>
                          <a:ea typeface="Aptos"/>
                          <a:cs typeface="Aptos"/>
                        </a:rPr>
                        <a:t>Measures the benefit of personalization</a:t>
                      </a:r>
                    </a:p>
                  </a:txBody>
                  <a:tcPr>
                    <a:solidFill>
                      <a:srgbClr val="FFFFFF"/>
                    </a:solidFill>
                  </a:tcPr>
                </a:tc>
                <a:extLst>
                  <a:ext uri="{0D108BD9-81ED-4DB2-BD59-A6C34878D82A}">
                    <a16:rowId xmlns:a16="http://schemas.microsoft.com/office/drawing/2014/main" val="10001"/>
                  </a:ext>
                </a:extLst>
              </a:tr>
              <a:tr h="670560">
                <a:tc>
                  <a:txBody>
                    <a:bodyPr/>
                    <a:lstStyle/>
                    <a:p>
                      <a:r>
                        <a:rPr sz="1800" b="0">
                          <a:solidFill>
                            <a:srgbClr val="183348"/>
                          </a:solidFill>
                          <a:latin typeface="Aptos"/>
                          <a:ea typeface="Aptos"/>
                          <a:cs typeface="Aptos"/>
                        </a:rPr>
                        <a:t>Collaborative filtering</a:t>
                      </a:r>
                    </a:p>
                  </a:txBody>
                  <a:tcPr>
                    <a:solidFill>
                      <a:srgbClr val="EDF2F0"/>
                    </a:solidFill>
                  </a:tcPr>
                </a:tc>
                <a:tc>
                  <a:txBody>
                    <a:bodyPr/>
                    <a:lstStyle/>
                    <a:p>
                      <a:r>
                        <a:rPr sz="1800" b="0">
                          <a:solidFill>
                            <a:srgbClr val="183348"/>
                          </a:solidFill>
                          <a:latin typeface="Aptos"/>
                          <a:ea typeface="Aptos"/>
                          <a:cs typeface="Aptos"/>
                        </a:rPr>
                        <a:t>User–item interactions, e.g. BPR</a:t>
                      </a:r>
                    </a:p>
                  </a:txBody>
                  <a:tcPr>
                    <a:solidFill>
                      <a:srgbClr val="EDF2F0"/>
                    </a:solidFill>
                  </a:tcPr>
                </a:tc>
                <a:tc>
                  <a:txBody>
                    <a:bodyPr/>
                    <a:lstStyle/>
                    <a:p>
                      <a:r>
                        <a:rPr sz="1800" b="0">
                          <a:solidFill>
                            <a:srgbClr val="183348"/>
                          </a:solidFill>
                          <a:latin typeface="Aptos"/>
                          <a:ea typeface="Aptos"/>
                          <a:cs typeface="Aptos"/>
                        </a:rPr>
                        <a:t>Tests shared behavioral structure</a:t>
                      </a:r>
                    </a:p>
                  </a:txBody>
                  <a:tcPr>
                    <a:solidFill>
                      <a:srgbClr val="EDF2F0"/>
                    </a:solidFill>
                  </a:tcPr>
                </a:tc>
                <a:extLst>
                  <a:ext uri="{0D108BD9-81ED-4DB2-BD59-A6C34878D82A}">
                    <a16:rowId xmlns:a16="http://schemas.microsoft.com/office/drawing/2014/main" val="10002"/>
                  </a:ext>
                </a:extLst>
              </a:tr>
              <a:tr h="670560">
                <a:tc>
                  <a:txBody>
                    <a:bodyPr/>
                    <a:lstStyle/>
                    <a:p>
                      <a:r>
                        <a:rPr sz="1800" b="0">
                          <a:solidFill>
                            <a:srgbClr val="183348"/>
                          </a:solidFill>
                          <a:latin typeface="Aptos"/>
                          <a:ea typeface="Aptos"/>
                          <a:cs typeface="Aptos"/>
                        </a:rPr>
                        <a:t>Content model</a:t>
                      </a:r>
                    </a:p>
                  </a:txBody>
                  <a:tcPr>
                    <a:solidFill>
                      <a:srgbClr val="FFFFFF"/>
                    </a:solidFill>
                  </a:tcPr>
                </a:tc>
                <a:tc>
                  <a:txBody>
                    <a:bodyPr/>
                    <a:lstStyle/>
                    <a:p>
                      <a:r>
                        <a:rPr sz="1800" b="0">
                          <a:solidFill>
                            <a:srgbClr val="183348"/>
                          </a:solidFill>
                          <a:latin typeface="Aptos"/>
                          <a:ea typeface="Aptos"/>
                          <a:cs typeface="Aptos"/>
                        </a:rPr>
                        <a:t>Item attributes or text embeddings</a:t>
                      </a:r>
                    </a:p>
                  </a:txBody>
                  <a:tcPr>
                    <a:solidFill>
                      <a:srgbClr val="FFFFFF"/>
                    </a:solidFill>
                  </a:tcPr>
                </a:tc>
                <a:tc>
                  <a:txBody>
                    <a:bodyPr/>
                    <a:lstStyle/>
                    <a:p>
                      <a:r>
                        <a:rPr sz="1800" b="0">
                          <a:solidFill>
                            <a:srgbClr val="183348"/>
                          </a:solidFill>
                          <a:latin typeface="Aptos"/>
                          <a:ea typeface="Aptos"/>
                          <a:cs typeface="Aptos"/>
                        </a:rPr>
                        <a:t>Supports sparse or new items</a:t>
                      </a:r>
                    </a:p>
                  </a:txBody>
                  <a:tcPr>
                    <a:solidFill>
                      <a:srgbClr val="FFFFFF"/>
                    </a:solidFill>
                  </a:tcPr>
                </a:tc>
                <a:extLst>
                  <a:ext uri="{0D108BD9-81ED-4DB2-BD59-A6C34878D82A}">
                    <a16:rowId xmlns:a16="http://schemas.microsoft.com/office/drawing/2014/main" val="10003"/>
                  </a:ext>
                </a:extLst>
              </a:tr>
              <a:tr h="670560">
                <a:tc>
                  <a:txBody>
                    <a:bodyPr/>
                    <a:lstStyle/>
                    <a:p>
                      <a:r>
                        <a:rPr sz="1800" b="0">
                          <a:solidFill>
                            <a:srgbClr val="183348"/>
                          </a:solidFill>
                          <a:latin typeface="Aptos"/>
                          <a:ea typeface="Aptos"/>
                          <a:cs typeface="Aptos"/>
                        </a:rPr>
                        <a:t>Culture-aware hybrid</a:t>
                      </a:r>
                    </a:p>
                  </a:txBody>
                  <a:tcPr>
                    <a:solidFill>
                      <a:srgbClr val="EDF2F0"/>
                    </a:solidFill>
                  </a:tcPr>
                </a:tc>
                <a:tc>
                  <a:txBody>
                    <a:bodyPr/>
                    <a:lstStyle/>
                    <a:p>
                      <a:r>
                        <a:rPr sz="1800" b="0">
                          <a:solidFill>
                            <a:srgbClr val="183348"/>
                          </a:solidFill>
                          <a:latin typeface="Aptos"/>
                          <a:ea typeface="Aptos"/>
                          <a:cs typeface="Aptos"/>
                        </a:rPr>
                        <a:t>Behavior + content + country values</a:t>
                      </a:r>
                    </a:p>
                  </a:txBody>
                  <a:tcPr>
                    <a:solidFill>
                      <a:srgbClr val="EDF2F0"/>
                    </a:solidFill>
                  </a:tcPr>
                </a:tc>
                <a:tc>
                  <a:txBody>
                    <a:bodyPr/>
                    <a:lstStyle/>
                    <a:p>
                      <a:r>
                        <a:rPr sz="1800" b="0">
                          <a:solidFill>
                            <a:srgbClr val="183348"/>
                          </a:solidFill>
                          <a:latin typeface="Aptos"/>
                          <a:ea typeface="Aptos"/>
                          <a:cs typeface="Aptos"/>
                        </a:rPr>
                        <a:t>Tests incremental cultural context</a:t>
                      </a:r>
                    </a:p>
                  </a:txBody>
                  <a:tcPr>
                    <a:solidFill>
                      <a:srgbClr val="EDF2F0"/>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CC675BAC-E229-4234-B7E2-4C2C80CB4424}"/>
              </a:ext>
            </a:extLst>
          </p:cNvPr>
          <p:cNvSpPr>
            <a:spLocks noGrp="1"/>
          </p:cNvSpPr>
          <p:nvPr/>
        </p:nvSpPr>
        <p:spPr>
          <a:xfrm>
            <a:off x="609600" y="5314950"/>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Ablations: remove cultural features and compare with country ID alone.</a:t>
            </a:r>
          </a:p>
        </p:txBody>
      </p:sp>
      <p:sp>
        <p:nvSpPr>
          <p:cNvPr id="5" name="직사각형 4">
            <a:extLst>
              <a:ext uri="{FF2B5EF4-FFF2-40B4-BE49-F238E27FC236}">
                <a16:creationId xmlns:a16="http://schemas.microsoft.com/office/drawing/2014/main" id="{B542024B-5DF5-4407-B5A7-5FE667BBC0A2}"/>
              </a:ext>
            </a:extLst>
          </p:cNvPr>
          <p:cNvSpPr>
            <a:spLocks noGrp="1"/>
          </p:cNvSpPr>
          <p:nvPr/>
        </p:nvSpPr>
        <p:spPr>
          <a:xfrm>
            <a:off x="609600" y="5915025"/>
            <a:ext cx="10477500" cy="285750"/>
          </a:xfrm>
          <a:prstGeom prst="rect">
            <a:avLst/>
          </a:prstGeom>
          <a:noFill/>
          <a:ln w="0">
            <a:noFill/>
          </a:ln>
        </p:spPr>
        <p:txBody>
          <a:bodyPr lIns="0" tIns="0" rIns="0" bIns="0" anchor="t"/>
          <a:lstStyle>
            <a:defPPr>
              <a:defRPr sz="1350" b="0">
                <a:solidFill>
                  <a:srgbClr val="007F83"/>
                </a:solidFill>
                <a:latin typeface="Aptos"/>
                <a:ea typeface="Aptos"/>
                <a:cs typeface="Aptos"/>
              </a:defRPr>
            </a:defPPr>
          </a:lstStyle>
          <a:p>
            <a:pPr>
              <a:defRPr sz="1350" b="0">
                <a:solidFill>
                  <a:srgbClr val="007F83"/>
                </a:solidFill>
                <a:latin typeface="Aptos"/>
                <a:ea typeface="Aptos"/>
                <a:cs typeface="Aptos"/>
              </a:defRPr>
            </a:pPr>
            <a:r>
              <a:rPr>
                <a:hlinkClick r:id="rId3"/>
              </a:rPr>
              <a:t>BPR paper</a:t>
            </a:r>
          </a:p>
        </p:txBody>
      </p:sp>
    </p:spTree>
    <p:extLst>
      <p:ext uri="{BB962C8B-B14F-4D97-AF65-F5344CB8AC3E}">
        <p14:creationId xmlns:p14="http://schemas.microsoft.com/office/powerpoint/2010/main" val="663014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2BA2A98-59FF-4CF5-83C5-EC7A6C4F0D4D}"/>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Cross-country evaluation protocol</a:t>
            </a:r>
          </a:p>
        </p:txBody>
      </p:sp>
      <p:sp>
        <p:nvSpPr>
          <p:cNvPr id="2" name="직사각형 1">
            <a:extLst>
              <a:ext uri="{FF2B5EF4-FFF2-40B4-BE49-F238E27FC236}">
                <a16:creationId xmlns:a16="http://schemas.microsoft.com/office/drawing/2014/main" id="{4DE1BBEE-7F49-447F-8AD0-F5103F3CB839}"/>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15</a:t>
            </a:r>
          </a:p>
        </p:txBody>
      </p:sp>
      <p:sp>
        <p:nvSpPr>
          <p:cNvPr id="3" name="직사각형 2">
            <a:extLst>
              <a:ext uri="{FF2B5EF4-FFF2-40B4-BE49-F238E27FC236}">
                <a16:creationId xmlns:a16="http://schemas.microsoft.com/office/drawing/2014/main" id="{AE599177-B7C5-4CA1-8F0E-D63B4D828EB9}"/>
              </a:ext>
            </a:extLst>
          </p:cNvPr>
          <p:cNvSpPr>
            <a:spLocks noGrp="1"/>
          </p:cNvSpPr>
          <p:nvPr/>
        </p:nvSpPr>
        <p:spPr>
          <a:xfrm>
            <a:off x="609600" y="15621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Transfer setting</a:t>
            </a:r>
          </a:p>
        </p:txBody>
      </p:sp>
      <p:sp>
        <p:nvSpPr>
          <p:cNvPr id="4" name="직사각형 3">
            <a:extLst>
              <a:ext uri="{FF2B5EF4-FFF2-40B4-BE49-F238E27FC236}">
                <a16:creationId xmlns:a16="http://schemas.microsoft.com/office/drawing/2014/main" id="{FBE4D04A-0719-4FC6-87E1-C86A59CF4DEF}"/>
              </a:ext>
            </a:extLst>
          </p:cNvPr>
          <p:cNvSpPr>
            <a:spLocks noGrp="1"/>
          </p:cNvSpPr>
          <p:nvPr/>
        </p:nvSpPr>
        <p:spPr>
          <a:xfrm>
            <a:off x="3781425" y="15621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Train on source countries. Give target users a fixed amount of earlier history.</a:t>
            </a:r>
          </a:p>
        </p:txBody>
      </p:sp>
      <p:sp>
        <p:nvSpPr>
          <p:cNvPr id="5" name="직사각형 4">
            <a:extLst>
              <a:ext uri="{FF2B5EF4-FFF2-40B4-BE49-F238E27FC236}">
                <a16:creationId xmlns:a16="http://schemas.microsoft.com/office/drawing/2014/main" id="{25CBE6D5-C58D-4061-A169-CC5E153C397E}"/>
              </a:ext>
            </a:extLst>
          </p:cNvPr>
          <p:cNvSpPr>
            <a:spLocks noGrp="1"/>
          </p:cNvSpPr>
          <p:nvPr/>
        </p:nvSpPr>
        <p:spPr>
          <a:xfrm>
            <a:off x="609600" y="26193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Comparisons</a:t>
            </a:r>
          </a:p>
        </p:txBody>
      </p:sp>
      <p:sp>
        <p:nvSpPr>
          <p:cNvPr id="6" name="직사각형 5">
            <a:extLst>
              <a:ext uri="{FF2B5EF4-FFF2-40B4-BE49-F238E27FC236}">
                <a16:creationId xmlns:a16="http://schemas.microsoft.com/office/drawing/2014/main" id="{92AEBCB1-CA9F-4116-A40C-315CD0D73130}"/>
              </a:ext>
            </a:extLst>
          </p:cNvPr>
          <p:cNvSpPr>
            <a:spLocks noGrp="1"/>
          </p:cNvSpPr>
          <p:nvPr/>
        </p:nvSpPr>
        <p:spPr>
          <a:xfrm>
            <a:off x="3781425" y="26193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Target-only, pooled and transferred training use the same test users.</a:t>
            </a:r>
          </a:p>
        </p:txBody>
      </p:sp>
      <p:sp>
        <p:nvSpPr>
          <p:cNvPr id="7" name="직사각형 6">
            <a:extLst>
              <a:ext uri="{FF2B5EF4-FFF2-40B4-BE49-F238E27FC236}">
                <a16:creationId xmlns:a16="http://schemas.microsoft.com/office/drawing/2014/main" id="{73BFF0D0-71FC-4EF3-8507-7B42E89C8D40}"/>
              </a:ext>
            </a:extLst>
          </p:cNvPr>
          <p:cNvSpPr>
            <a:spLocks noGrp="1"/>
          </p:cNvSpPr>
          <p:nvPr/>
        </p:nvSpPr>
        <p:spPr>
          <a:xfrm>
            <a:off x="609600" y="36766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Test construction</a:t>
            </a:r>
          </a:p>
        </p:txBody>
      </p:sp>
      <p:sp>
        <p:nvSpPr>
          <p:cNvPr id="8" name="직사각형 7">
            <a:extLst>
              <a:ext uri="{FF2B5EF4-FFF2-40B4-BE49-F238E27FC236}">
                <a16:creationId xmlns:a16="http://schemas.microsoft.com/office/drawing/2014/main" id="{488A218D-FD07-4D04-81C1-534A2E5B27F3}"/>
              </a:ext>
            </a:extLst>
          </p:cNvPr>
          <p:cNvSpPr>
            <a:spLocks noGrp="1"/>
          </p:cNvSpPr>
          <p:nvPr/>
        </p:nvSpPr>
        <p:spPr>
          <a:xfrm>
            <a:off x="3781425" y="36766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Hold out later target events. Rank a fixed eligible target item catalog.</a:t>
            </a:r>
          </a:p>
        </p:txBody>
      </p:sp>
      <p:sp>
        <p:nvSpPr>
          <p:cNvPr id="9" name="직사각형 8">
            <a:extLst>
              <a:ext uri="{FF2B5EF4-FFF2-40B4-BE49-F238E27FC236}">
                <a16:creationId xmlns:a16="http://schemas.microsoft.com/office/drawing/2014/main" id="{3FA55317-73C3-4131-9E74-1F1C62ACE8FA}"/>
              </a:ext>
            </a:extLst>
          </p:cNvPr>
          <p:cNvSpPr>
            <a:spLocks noGrp="1"/>
          </p:cNvSpPr>
          <p:nvPr/>
        </p:nvSpPr>
        <p:spPr>
          <a:xfrm>
            <a:off x="609600" y="47339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Country reporting</a:t>
            </a:r>
          </a:p>
        </p:txBody>
      </p:sp>
      <p:sp>
        <p:nvSpPr>
          <p:cNvPr id="10" name="직사각형 9">
            <a:extLst>
              <a:ext uri="{FF2B5EF4-FFF2-40B4-BE49-F238E27FC236}">
                <a16:creationId xmlns:a16="http://schemas.microsoft.com/office/drawing/2014/main" id="{503DA199-3A9D-4DE6-976A-7C33B70CA62F}"/>
              </a:ext>
            </a:extLst>
          </p:cNvPr>
          <p:cNvSpPr>
            <a:spLocks noGrp="1"/>
          </p:cNvSpPr>
          <p:nvPr/>
        </p:nvSpPr>
        <p:spPr>
          <a:xfrm>
            <a:off x="3781425" y="47339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Show per-country and macro averages, sample sizes and uncertainty.</a:t>
            </a:r>
          </a:p>
        </p:txBody>
      </p:sp>
      <p:sp>
        <p:nvSpPr>
          <p:cNvPr id="11" name="직사각형 10">
            <a:extLst>
              <a:ext uri="{FF2B5EF4-FFF2-40B4-BE49-F238E27FC236}">
                <a16:creationId xmlns:a16="http://schemas.microsoft.com/office/drawing/2014/main" id="{41BE0729-9FB6-4CC5-85E7-FBA03D8A34C5}"/>
              </a:ext>
            </a:extLst>
          </p:cNvPr>
          <p:cNvSpPr>
            <a:spLocks noGrp="1"/>
          </p:cNvSpPr>
          <p:nvPr/>
        </p:nvSpPr>
        <p:spPr>
          <a:xfrm>
            <a:off x="609600" y="5838825"/>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Declare item overlap, cold-start handling, K and any negative sampling.</a:t>
            </a:r>
          </a:p>
        </p:txBody>
      </p:sp>
    </p:spTree>
    <p:extLst>
      <p:ext uri="{BB962C8B-B14F-4D97-AF65-F5344CB8AC3E}">
        <p14:creationId xmlns:p14="http://schemas.microsoft.com/office/powerpoint/2010/main" val="1074399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6271252E-044B-459B-AEB1-F492BB7DB182}"/>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Recall@K, NDCG@K and coverage</a:t>
            </a:r>
          </a:p>
        </p:txBody>
      </p:sp>
      <p:sp>
        <p:nvSpPr>
          <p:cNvPr id="2" name="직사각형 1">
            <a:extLst>
              <a:ext uri="{FF2B5EF4-FFF2-40B4-BE49-F238E27FC236}">
                <a16:creationId xmlns:a16="http://schemas.microsoft.com/office/drawing/2014/main" id="{609735EB-041A-4C03-822A-494CE9C62270}"/>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16</a:t>
            </a:r>
          </a:p>
        </p:txBody>
      </p:sp>
      <p:sp>
        <p:nvSpPr>
          <p:cNvPr id="3" name="직사각형 2">
            <a:extLst>
              <a:ext uri="{FF2B5EF4-FFF2-40B4-BE49-F238E27FC236}">
                <a16:creationId xmlns:a16="http://schemas.microsoft.com/office/drawing/2014/main" id="{4A0A7C8D-A320-42A0-AD33-D4542D9D63C7}"/>
              </a:ext>
            </a:extLst>
          </p:cNvPr>
          <p:cNvSpPr>
            <a:spLocks noGrp="1"/>
          </p:cNvSpPr>
          <p:nvPr/>
        </p:nvSpPr>
        <p:spPr>
          <a:xfrm>
            <a:off x="609600" y="15811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Recall@K</a:t>
            </a:r>
          </a:p>
        </p:txBody>
      </p:sp>
      <p:sp>
        <p:nvSpPr>
          <p:cNvPr id="4" name="직사각형 3">
            <a:extLst>
              <a:ext uri="{FF2B5EF4-FFF2-40B4-BE49-F238E27FC236}">
                <a16:creationId xmlns:a16="http://schemas.microsoft.com/office/drawing/2014/main" id="{2AB1E7AC-1020-4C51-AFFE-DDB9B009E601}"/>
              </a:ext>
            </a:extLst>
          </p:cNvPr>
          <p:cNvSpPr>
            <a:spLocks noGrp="1"/>
          </p:cNvSpPr>
          <p:nvPr/>
        </p:nvSpPr>
        <p:spPr>
          <a:xfrm>
            <a:off x="3781425" y="15811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Fraction of a user’s held-out relevant items found in the top K.</a:t>
            </a:r>
          </a:p>
        </p:txBody>
      </p:sp>
      <p:sp>
        <p:nvSpPr>
          <p:cNvPr id="5" name="직사각형 4">
            <a:extLst>
              <a:ext uri="{FF2B5EF4-FFF2-40B4-BE49-F238E27FC236}">
                <a16:creationId xmlns:a16="http://schemas.microsoft.com/office/drawing/2014/main" id="{142589BB-7B5E-455A-ACF8-6129B5C3D87D}"/>
              </a:ext>
            </a:extLst>
          </p:cNvPr>
          <p:cNvSpPr>
            <a:spLocks noGrp="1"/>
          </p:cNvSpPr>
          <p:nvPr/>
        </p:nvSpPr>
        <p:spPr>
          <a:xfrm>
            <a:off x="609600" y="26479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NDCG@K</a:t>
            </a:r>
          </a:p>
        </p:txBody>
      </p:sp>
      <p:sp>
        <p:nvSpPr>
          <p:cNvPr id="6" name="직사각형 5">
            <a:extLst>
              <a:ext uri="{FF2B5EF4-FFF2-40B4-BE49-F238E27FC236}">
                <a16:creationId xmlns:a16="http://schemas.microsoft.com/office/drawing/2014/main" id="{B8200839-0C78-480A-913E-9D9BEF1EACE9}"/>
              </a:ext>
            </a:extLst>
          </p:cNvPr>
          <p:cNvSpPr>
            <a:spLocks noGrp="1"/>
          </p:cNvSpPr>
          <p:nvPr/>
        </p:nvSpPr>
        <p:spPr>
          <a:xfrm>
            <a:off x="3781425" y="26479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Rewards relevant items near the top. Divide DCG by the ideal ranking’s DCG.</a:t>
            </a:r>
          </a:p>
        </p:txBody>
      </p:sp>
      <p:sp>
        <p:nvSpPr>
          <p:cNvPr id="7" name="직사각형 6">
            <a:extLst>
              <a:ext uri="{FF2B5EF4-FFF2-40B4-BE49-F238E27FC236}">
                <a16:creationId xmlns:a16="http://schemas.microsoft.com/office/drawing/2014/main" id="{D8980C5E-277B-49AC-8553-103021903DFB}"/>
              </a:ext>
            </a:extLst>
          </p:cNvPr>
          <p:cNvSpPr>
            <a:spLocks noGrp="1"/>
          </p:cNvSpPr>
          <p:nvPr/>
        </p:nvSpPr>
        <p:spPr>
          <a:xfrm>
            <a:off x="609600" y="37147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Item coverage</a:t>
            </a:r>
          </a:p>
        </p:txBody>
      </p:sp>
      <p:sp>
        <p:nvSpPr>
          <p:cNvPr id="8" name="직사각형 7">
            <a:extLst>
              <a:ext uri="{FF2B5EF4-FFF2-40B4-BE49-F238E27FC236}">
                <a16:creationId xmlns:a16="http://schemas.microsoft.com/office/drawing/2014/main" id="{31A5E344-B299-437D-A541-303A3FC4F509}"/>
              </a:ext>
            </a:extLst>
          </p:cNvPr>
          <p:cNvSpPr>
            <a:spLocks noGrp="1"/>
          </p:cNvSpPr>
          <p:nvPr/>
        </p:nvSpPr>
        <p:spPr>
          <a:xfrm>
            <a:off x="3781425" y="37147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Distinct recommended items divided by the eligible item catalog.</a:t>
            </a:r>
          </a:p>
        </p:txBody>
      </p:sp>
      <p:sp>
        <p:nvSpPr>
          <p:cNvPr id="9" name="직사각형 8">
            <a:extLst>
              <a:ext uri="{FF2B5EF4-FFF2-40B4-BE49-F238E27FC236}">
                <a16:creationId xmlns:a16="http://schemas.microsoft.com/office/drawing/2014/main" id="{5236B4B9-5ABA-4613-9086-68F8B27F7B3F}"/>
              </a:ext>
            </a:extLst>
          </p:cNvPr>
          <p:cNvSpPr>
            <a:spLocks noGrp="1"/>
          </p:cNvSpPr>
          <p:nvPr/>
        </p:nvSpPr>
        <p:spPr>
          <a:xfrm>
            <a:off x="609600" y="4838700"/>
            <a:ext cx="10858500" cy="1238250"/>
          </a:xfrm>
          <a:prstGeom prst="rect">
            <a:avLst/>
          </a:prstGeom>
          <a:noFill/>
          <a:ln w="0">
            <a:noFill/>
          </a:ln>
        </p:spPr>
        <p:txBody>
          <a:bodyPr lIns="0" tIns="0" rIns="0" bIns="0" anchor="t"/>
          <a:lstStyle>
            <a:defPPr>
              <a:defRPr sz="1950" b="1">
                <a:solidFill>
                  <a:srgbClr val="007F83"/>
                </a:solidFill>
                <a:latin typeface="Aptos"/>
                <a:ea typeface="Aptos"/>
                <a:cs typeface="Aptos"/>
              </a:defRPr>
            </a:defPPr>
          </a:lstStyle>
          <a:p>
            <a:pPr>
              <a:defRPr sz="1950" b="1">
                <a:solidFill>
                  <a:srgbClr val="007F83"/>
                </a:solidFill>
                <a:latin typeface="Aptos"/>
                <a:ea typeface="Aptos"/>
                <a:cs typeface="Aptos"/>
              </a:defRPr>
            </a:pPr>
            <a:r>
              <a:rPr sz="1950" b="1">
                <a:solidFill>
                  <a:srgbClr val="007F83"/>
                </a:solidFill>
                <a:latin typeface="Aptos"/>
                <a:ea typeface="Aptos"/>
                <a:cs typeface="Aptos"/>
              </a:rPr>
              <a:t>Worked example at K = 3</a:t>
            </a:r>
          </a:p>
          <a:p>
            <a:pPr>
              <a:defRPr sz="1950" b="1">
                <a:solidFill>
                  <a:srgbClr val="007F83"/>
                </a:solidFill>
                <a:latin typeface="Aptos"/>
                <a:ea typeface="Aptos"/>
                <a:cs typeface="Aptos"/>
              </a:defRPr>
            </a:pPr>
            <a:r>
              <a:rPr sz="1950" b="1">
                <a:solidFill>
                  <a:srgbClr val="007F83"/>
                </a:solidFill>
                <a:latin typeface="Aptos"/>
                <a:ea typeface="Aptos"/>
                <a:cs typeface="Aptos"/>
              </a:rPr>
              <a:t>Two relevant items. The ranking hits at positions 1 and 3.</a:t>
            </a:r>
          </a:p>
          <a:p>
            <a:pPr>
              <a:defRPr sz="1950" b="1">
                <a:solidFill>
                  <a:srgbClr val="007F83"/>
                </a:solidFill>
                <a:latin typeface="Aptos"/>
                <a:ea typeface="Aptos"/>
                <a:cs typeface="Aptos"/>
              </a:defRPr>
            </a:pPr>
            <a:r>
              <a:rPr sz="1950" b="1">
                <a:solidFill>
                  <a:srgbClr val="007F83"/>
                </a:solidFill>
                <a:latin typeface="Aptos"/>
                <a:ea typeface="Aptos"/>
                <a:cs typeface="Aptos"/>
              </a:rPr>
              <a:t>Recall@3 = 1.00     NDCG@3 = 1.50 / 1.631 = 0.920</a:t>
            </a:r>
          </a:p>
        </p:txBody>
      </p:sp>
    </p:spTree>
    <p:extLst>
      <p:ext uri="{BB962C8B-B14F-4D97-AF65-F5344CB8AC3E}">
        <p14:creationId xmlns:p14="http://schemas.microsoft.com/office/powerpoint/2010/main" val="24391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B61053B5-6276-4645-94CA-401124B6F5DB}"/>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Three student project options</a:t>
            </a:r>
          </a:p>
        </p:txBody>
      </p:sp>
      <p:sp>
        <p:nvSpPr>
          <p:cNvPr id="2" name="직사각형 1">
            <a:extLst>
              <a:ext uri="{FF2B5EF4-FFF2-40B4-BE49-F238E27FC236}">
                <a16:creationId xmlns:a16="http://schemas.microsoft.com/office/drawing/2014/main" id="{4D6E2794-6DBF-4F8B-8B16-748D53C5B04C}"/>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17</a:t>
            </a:r>
          </a:p>
        </p:txBody>
      </p:sp>
      <p:sp>
        <p:nvSpPr>
          <p:cNvPr id="3" name="직사각형 2">
            <a:extLst>
              <a:ext uri="{FF2B5EF4-FFF2-40B4-BE49-F238E27FC236}">
                <a16:creationId xmlns:a16="http://schemas.microsoft.com/office/drawing/2014/main" id="{596FE98B-34DD-41B3-AA85-AE69DC3A74B6}"/>
              </a:ext>
            </a:extLst>
          </p:cNvPr>
          <p:cNvSpPr>
            <a:spLocks noGrp="1"/>
          </p:cNvSpPr>
          <p:nvPr/>
        </p:nvSpPr>
        <p:spPr>
          <a:xfrm>
            <a:off x="609600" y="160020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A. Music transfer</a:t>
            </a:r>
          </a:p>
        </p:txBody>
      </p:sp>
      <p:sp>
        <p:nvSpPr>
          <p:cNvPr id="4" name="직사각형 3">
            <a:extLst>
              <a:ext uri="{FF2B5EF4-FFF2-40B4-BE49-F238E27FC236}">
                <a16:creationId xmlns:a16="http://schemas.microsoft.com/office/drawing/2014/main" id="{521336B2-ABFA-4FBD-AFB8-E3EDE552C13E}"/>
              </a:ext>
            </a:extLst>
          </p:cNvPr>
          <p:cNvSpPr>
            <a:spLocks noGrp="1"/>
          </p:cNvSpPr>
          <p:nvPr/>
        </p:nvSpPr>
        <p:spPr>
          <a:xfrm>
            <a:off x="3781425" y="160020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Last.fm + WVS: test whether country values improve artist ranking beyond CF.</a:t>
            </a:r>
          </a:p>
        </p:txBody>
      </p:sp>
      <p:sp>
        <p:nvSpPr>
          <p:cNvPr id="5" name="직사각형 4">
            <a:extLst>
              <a:ext uri="{FF2B5EF4-FFF2-40B4-BE49-F238E27FC236}">
                <a16:creationId xmlns:a16="http://schemas.microsoft.com/office/drawing/2014/main" id="{FF9C5FA5-8688-4380-806E-E463303EA047}"/>
              </a:ext>
            </a:extLst>
          </p:cNvPr>
          <p:cNvSpPr>
            <a:spLocks noGrp="1"/>
          </p:cNvSpPr>
          <p:nvPr/>
        </p:nvSpPr>
        <p:spPr>
          <a:xfrm>
            <a:off x="609600" y="28479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B. Places abroad</a:t>
            </a:r>
          </a:p>
        </p:txBody>
      </p:sp>
      <p:sp>
        <p:nvSpPr>
          <p:cNvPr id="6" name="직사각형 5">
            <a:extLst>
              <a:ext uri="{FF2B5EF4-FFF2-40B4-BE49-F238E27FC236}">
                <a16:creationId xmlns:a16="http://schemas.microsoft.com/office/drawing/2014/main" id="{1E596E02-8958-44EF-BB7B-AF07420A9A8E}"/>
              </a:ext>
            </a:extLst>
          </p:cNvPr>
          <p:cNvSpPr>
            <a:spLocks noGrp="1"/>
          </p:cNvSpPr>
          <p:nvPr/>
        </p:nvSpPr>
        <p:spPr>
          <a:xfrm>
            <a:off x="3781425" y="28479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Foursquare + WVS: compare category transfer with local popularity.</a:t>
            </a:r>
          </a:p>
        </p:txBody>
      </p:sp>
      <p:sp>
        <p:nvSpPr>
          <p:cNvPr id="7" name="직사각형 6">
            <a:extLst>
              <a:ext uri="{FF2B5EF4-FFF2-40B4-BE49-F238E27FC236}">
                <a16:creationId xmlns:a16="http://schemas.microsoft.com/office/drawing/2014/main" id="{8C179C55-FDD1-48C0-99E2-C6E830959F9C}"/>
              </a:ext>
            </a:extLst>
          </p:cNvPr>
          <p:cNvSpPr>
            <a:spLocks noGrp="1"/>
          </p:cNvSpPr>
          <p:nvPr/>
        </p:nvSpPr>
        <p:spPr>
          <a:xfrm>
            <a:off x="609600" y="4095750"/>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C. Travel sequences</a:t>
            </a:r>
          </a:p>
        </p:txBody>
      </p:sp>
      <p:sp>
        <p:nvSpPr>
          <p:cNvPr id="8" name="직사각형 7">
            <a:extLst>
              <a:ext uri="{FF2B5EF4-FFF2-40B4-BE49-F238E27FC236}">
                <a16:creationId xmlns:a16="http://schemas.microsoft.com/office/drawing/2014/main" id="{78368DC9-2A7F-412D-8C23-2472B2A24832}"/>
              </a:ext>
            </a:extLst>
          </p:cNvPr>
          <p:cNvSpPr>
            <a:spLocks noGrp="1"/>
          </p:cNvSpPr>
          <p:nvPr/>
        </p:nvSpPr>
        <p:spPr>
          <a:xfrm>
            <a:off x="3781425" y="4095750"/>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Booking.com: predict the next city and compare anonymous booker groups.</a:t>
            </a:r>
          </a:p>
        </p:txBody>
      </p:sp>
      <p:sp>
        <p:nvSpPr>
          <p:cNvPr id="9" name="직사각형 8">
            <a:extLst>
              <a:ext uri="{FF2B5EF4-FFF2-40B4-BE49-F238E27FC236}">
                <a16:creationId xmlns:a16="http://schemas.microsoft.com/office/drawing/2014/main" id="{311A09DB-B3EE-4D20-99FA-C637854F20B6}"/>
              </a:ext>
            </a:extLst>
          </p:cNvPr>
          <p:cNvSpPr>
            <a:spLocks noGrp="1"/>
          </p:cNvSpPr>
          <p:nvPr/>
        </p:nvSpPr>
        <p:spPr>
          <a:xfrm>
            <a:off x="609600" y="5572125"/>
            <a:ext cx="10858500" cy="571500"/>
          </a:xfrm>
          <a:prstGeom prst="rect">
            <a:avLst/>
          </a:prstGeom>
          <a:noFill/>
          <a:ln w="0">
            <a:noFill/>
          </a:ln>
        </p:spPr>
        <p:txBody>
          <a:bodyPr lIns="0" tIns="0" rIns="0" bIns="0" anchor="t"/>
          <a:lstStyle>
            <a:defPPr>
              <a:defRPr sz="1725" b="1">
                <a:solidFill>
                  <a:srgbClr val="007F83"/>
                </a:solidFill>
                <a:latin typeface="Aptos"/>
                <a:ea typeface="Aptos"/>
                <a:cs typeface="Aptos"/>
              </a:defRPr>
            </a:defPPr>
          </a:lstStyle>
          <a:p>
            <a:pPr>
              <a:defRPr sz="1725" b="1">
                <a:solidFill>
                  <a:srgbClr val="007F83"/>
                </a:solidFill>
                <a:latin typeface="Aptos"/>
                <a:ea typeface="Aptos"/>
                <a:cs typeface="Aptos"/>
              </a:defRPr>
            </a:pPr>
            <a:r>
              <a:rPr sz="1725" b="1">
                <a:solidFill>
                  <a:srgbClr val="007F83"/>
                </a:solidFill>
                <a:latin typeface="Aptos"/>
                <a:ea typeface="Aptos"/>
                <a:cs typeface="Aptos"/>
              </a:rPr>
              <a:t>Each project needs a baseline, a controlled comparison and a failure analysis.</a:t>
            </a:r>
          </a:p>
        </p:txBody>
      </p:sp>
    </p:spTree>
    <p:extLst>
      <p:ext uri="{BB962C8B-B14F-4D97-AF65-F5344CB8AC3E}">
        <p14:creationId xmlns:p14="http://schemas.microsoft.com/office/powerpoint/2010/main" val="2047212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0DAC271B-0244-4F1F-B11C-CA7F7EF2FC06}"/>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Submission guidelines</a:t>
            </a:r>
          </a:p>
        </p:txBody>
      </p:sp>
      <p:sp>
        <p:nvSpPr>
          <p:cNvPr id="2" name="직사각형 1">
            <a:extLst>
              <a:ext uri="{FF2B5EF4-FFF2-40B4-BE49-F238E27FC236}">
                <a16:creationId xmlns:a16="http://schemas.microsoft.com/office/drawing/2014/main" id="{BA240E62-6915-408D-A8FB-83CBB4F143BD}"/>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18</a:t>
            </a:r>
          </a:p>
        </p:txBody>
      </p:sp>
      <p:sp>
        <p:nvSpPr>
          <p:cNvPr id="3" name="직사각형 2">
            <a:extLst>
              <a:ext uri="{FF2B5EF4-FFF2-40B4-BE49-F238E27FC236}">
                <a16:creationId xmlns:a16="http://schemas.microsoft.com/office/drawing/2014/main" id="{B9192FBD-6308-4A1F-B564-64E6421FFC33}"/>
              </a:ext>
            </a:extLst>
          </p:cNvPr>
          <p:cNvSpPr>
            <a:spLocks noGrp="1"/>
          </p:cNvSpPr>
          <p:nvPr/>
        </p:nvSpPr>
        <p:spPr>
          <a:xfrm>
            <a:off x="609600" y="15906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dirty="0">
                <a:solidFill>
                  <a:srgbClr val="007F83"/>
                </a:solidFill>
                <a:latin typeface="Aptos"/>
                <a:ea typeface="Aptos"/>
                <a:cs typeface="Aptos"/>
              </a:rPr>
              <a:t>Schedule</a:t>
            </a:r>
          </a:p>
        </p:txBody>
      </p:sp>
      <p:sp>
        <p:nvSpPr>
          <p:cNvPr id="4" name="직사각형 3">
            <a:extLst>
              <a:ext uri="{FF2B5EF4-FFF2-40B4-BE49-F238E27FC236}">
                <a16:creationId xmlns:a16="http://schemas.microsoft.com/office/drawing/2014/main" id="{99077BED-C457-4FCD-BA97-C945A3900564}"/>
              </a:ext>
            </a:extLst>
          </p:cNvPr>
          <p:cNvSpPr>
            <a:spLocks noGrp="1"/>
          </p:cNvSpPr>
          <p:nvPr/>
        </p:nvSpPr>
        <p:spPr>
          <a:xfrm>
            <a:off x="3781425" y="15906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dirty="0">
                <a:solidFill>
                  <a:srgbClr val="183348"/>
                </a:solidFill>
                <a:latin typeface="Aptos"/>
                <a:ea typeface="Aptos"/>
                <a:cs typeface="Aptos"/>
              </a:rPr>
              <a:t>The schedule and submission deadlines will be discussed in class.</a:t>
            </a:r>
            <a:endParaRPr lang="en-US" sz="1950" b="0" dirty="0">
              <a:solidFill>
                <a:srgbClr val="183348"/>
              </a:solidFill>
              <a:latin typeface="Aptos"/>
              <a:ea typeface="Aptos"/>
              <a:cs typeface="Aptos"/>
            </a:endParaRPr>
          </a:p>
          <a:p>
            <a:pPr>
              <a:defRPr sz="1950" b="0">
                <a:solidFill>
                  <a:srgbClr val="183348"/>
                </a:solidFill>
                <a:latin typeface="Aptos"/>
                <a:ea typeface="Aptos"/>
                <a:cs typeface="Aptos"/>
              </a:defRPr>
            </a:pPr>
            <a:r>
              <a:rPr lang="en-US" sz="1950" b="0" dirty="0">
                <a:solidFill>
                  <a:srgbClr val="183348"/>
                </a:solidFill>
                <a:latin typeface="Aptos"/>
                <a:ea typeface="Aptos"/>
                <a:cs typeface="Aptos"/>
              </a:rPr>
              <a:t>Oct</a:t>
            </a:r>
            <a:r>
              <a:rPr lang="ko-KR" altLang="en-US" sz="1950" b="0" dirty="0">
                <a:solidFill>
                  <a:srgbClr val="183348"/>
                </a:solidFill>
                <a:latin typeface="Aptos"/>
                <a:ea typeface="Aptos"/>
                <a:cs typeface="Aptos"/>
              </a:rPr>
              <a:t> </a:t>
            </a:r>
            <a:r>
              <a:rPr lang="en-US" altLang="ko-KR" sz="1950" b="0" dirty="0">
                <a:solidFill>
                  <a:srgbClr val="183348"/>
                </a:solidFill>
                <a:latin typeface="Aptos"/>
                <a:ea typeface="Aptos"/>
                <a:cs typeface="Aptos"/>
              </a:rPr>
              <a:t>31st, 2026 </a:t>
            </a:r>
            <a:endParaRPr sz="1950" b="0" dirty="0">
              <a:solidFill>
                <a:srgbClr val="183348"/>
              </a:solidFill>
              <a:latin typeface="Aptos"/>
              <a:ea typeface="Aptos"/>
              <a:cs typeface="Aptos"/>
            </a:endParaRPr>
          </a:p>
        </p:txBody>
      </p:sp>
      <p:sp>
        <p:nvSpPr>
          <p:cNvPr id="5" name="직사각형 4">
            <a:extLst>
              <a:ext uri="{FF2B5EF4-FFF2-40B4-BE49-F238E27FC236}">
                <a16:creationId xmlns:a16="http://schemas.microsoft.com/office/drawing/2014/main" id="{9BD51412-6371-42A7-A797-432F379CAA7C}"/>
              </a:ext>
            </a:extLst>
          </p:cNvPr>
          <p:cNvSpPr>
            <a:spLocks noGrp="1"/>
          </p:cNvSpPr>
          <p:nvPr/>
        </p:nvSpPr>
        <p:spPr>
          <a:xfrm>
            <a:off x="609600" y="26574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Report (DOC / DOCX)</a:t>
            </a:r>
          </a:p>
        </p:txBody>
      </p:sp>
      <p:sp>
        <p:nvSpPr>
          <p:cNvPr id="6" name="직사각형 5">
            <a:extLst>
              <a:ext uri="{FF2B5EF4-FFF2-40B4-BE49-F238E27FC236}">
                <a16:creationId xmlns:a16="http://schemas.microsoft.com/office/drawing/2014/main" id="{AD8FA158-8318-4784-9C42-1737274B6F04}"/>
              </a:ext>
            </a:extLst>
          </p:cNvPr>
          <p:cNvSpPr>
            <a:spLocks noGrp="1"/>
          </p:cNvSpPr>
          <p:nvPr/>
        </p:nvSpPr>
        <p:spPr>
          <a:xfrm>
            <a:off x="3781425" y="26574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Topic, hypothesis, scenario, datasets used,</a:t>
            </a:r>
          </a:p>
          <a:p>
            <a:pPr>
              <a:defRPr sz="1950" b="0">
                <a:solidFill>
                  <a:srgbClr val="183348"/>
                </a:solidFill>
                <a:latin typeface="Aptos"/>
                <a:ea typeface="Aptos"/>
                <a:cs typeface="Aptos"/>
              </a:defRPr>
            </a:pPr>
            <a:r>
              <a:rPr sz="1950" b="0">
                <a:solidFill>
                  <a:srgbClr val="183348"/>
                </a:solidFill>
                <a:latin typeface="Aptos"/>
                <a:ea typeface="Aptos"/>
                <a:cs typeface="Aptos"/>
              </a:rPr>
              <a:t>analysis results and evaluation.</a:t>
            </a:r>
          </a:p>
        </p:txBody>
      </p:sp>
      <p:sp>
        <p:nvSpPr>
          <p:cNvPr id="7" name="직사각형 6">
            <a:extLst>
              <a:ext uri="{FF2B5EF4-FFF2-40B4-BE49-F238E27FC236}">
                <a16:creationId xmlns:a16="http://schemas.microsoft.com/office/drawing/2014/main" id="{CBCB13FB-20CC-4F11-AC7C-B9532CE27DA2}"/>
              </a:ext>
            </a:extLst>
          </p:cNvPr>
          <p:cNvSpPr>
            <a:spLocks noGrp="1"/>
          </p:cNvSpPr>
          <p:nvPr/>
        </p:nvSpPr>
        <p:spPr>
          <a:xfrm>
            <a:off x="609600" y="38385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Source code</a:t>
            </a:r>
          </a:p>
        </p:txBody>
      </p:sp>
      <p:sp>
        <p:nvSpPr>
          <p:cNvPr id="8" name="직사각형 7">
            <a:extLst>
              <a:ext uri="{FF2B5EF4-FFF2-40B4-BE49-F238E27FC236}">
                <a16:creationId xmlns:a16="http://schemas.microsoft.com/office/drawing/2014/main" id="{3EFDC449-31EF-4F37-8039-F0985DECFA9A}"/>
              </a:ext>
            </a:extLst>
          </p:cNvPr>
          <p:cNvSpPr>
            <a:spLocks noGrp="1"/>
          </p:cNvSpPr>
          <p:nvPr/>
        </p:nvSpPr>
        <p:spPr>
          <a:xfrm>
            <a:off x="3781425" y="38385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Code or notebooks, README, dependencies,</a:t>
            </a:r>
          </a:p>
          <a:p>
            <a:pPr>
              <a:defRPr sz="1950" b="0">
                <a:solidFill>
                  <a:srgbClr val="183348"/>
                </a:solidFill>
                <a:latin typeface="Aptos"/>
                <a:ea typeface="Aptos"/>
                <a:cs typeface="Aptos"/>
              </a:defRPr>
            </a:pPr>
            <a:r>
              <a:rPr sz="1950" b="0">
                <a:solidFill>
                  <a:srgbClr val="183348"/>
                </a:solidFill>
                <a:latin typeface="Aptos"/>
                <a:ea typeface="Aptos"/>
                <a:cs typeface="Aptos"/>
              </a:rPr>
              <a:t>data preparation and execution instructions.</a:t>
            </a:r>
          </a:p>
        </p:txBody>
      </p:sp>
      <p:sp>
        <p:nvSpPr>
          <p:cNvPr id="9" name="직사각형 8">
            <a:extLst>
              <a:ext uri="{FF2B5EF4-FFF2-40B4-BE49-F238E27FC236}">
                <a16:creationId xmlns:a16="http://schemas.microsoft.com/office/drawing/2014/main" id="{4AB88DDE-7BBC-438D-814D-8BDBF8CAA25B}"/>
              </a:ext>
            </a:extLst>
          </p:cNvPr>
          <p:cNvSpPr>
            <a:spLocks noGrp="1"/>
          </p:cNvSpPr>
          <p:nvPr/>
        </p:nvSpPr>
        <p:spPr>
          <a:xfrm>
            <a:off x="609600" y="501967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sz="2100" b="1">
                <a:solidFill>
                  <a:srgbClr val="007F83"/>
                </a:solidFill>
                <a:latin typeface="Aptos"/>
                <a:ea typeface="Aptos"/>
                <a:cs typeface="Aptos"/>
              </a:rPr>
              <a:t>Supporting materials</a:t>
            </a:r>
          </a:p>
        </p:txBody>
      </p:sp>
      <p:sp>
        <p:nvSpPr>
          <p:cNvPr id="10" name="직사각형 9">
            <a:extLst>
              <a:ext uri="{FF2B5EF4-FFF2-40B4-BE49-F238E27FC236}">
                <a16:creationId xmlns:a16="http://schemas.microsoft.com/office/drawing/2014/main" id="{6C5963AC-C9CE-4762-AA58-03C2AF0ACD1B}"/>
              </a:ext>
            </a:extLst>
          </p:cNvPr>
          <p:cNvSpPr>
            <a:spLocks noGrp="1"/>
          </p:cNvSpPr>
          <p:nvPr/>
        </p:nvSpPr>
        <p:spPr>
          <a:xfrm>
            <a:off x="3781425" y="501967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dirty="0">
                <a:solidFill>
                  <a:srgbClr val="183348"/>
                </a:solidFill>
                <a:latin typeface="Aptos"/>
                <a:ea typeface="Aptos"/>
                <a:cs typeface="Aptos"/>
              </a:rPr>
              <a:t>Result tables or figures, dataset citations and access instructions.</a:t>
            </a:r>
          </a:p>
          <a:p>
            <a:pPr>
              <a:defRPr sz="1950" b="0">
                <a:solidFill>
                  <a:srgbClr val="183348"/>
                </a:solidFill>
                <a:latin typeface="Aptos"/>
                <a:ea typeface="Aptos"/>
                <a:cs typeface="Aptos"/>
              </a:defRPr>
            </a:pPr>
            <a:r>
              <a:rPr sz="1950" b="0" dirty="0">
                <a:solidFill>
                  <a:srgbClr val="183348"/>
                </a:solidFill>
                <a:latin typeface="Aptos"/>
                <a:ea typeface="Aptos"/>
                <a:cs typeface="Aptos"/>
              </a:rPr>
              <a:t>Redistribute data only when its terms permit it.</a:t>
            </a:r>
          </a:p>
        </p:txBody>
      </p:sp>
      <p:sp>
        <p:nvSpPr>
          <p:cNvPr id="12" name="직사각형 11">
            <a:extLst>
              <a:ext uri="{FF2B5EF4-FFF2-40B4-BE49-F238E27FC236}">
                <a16:creationId xmlns:a16="http://schemas.microsoft.com/office/drawing/2014/main" id="{0714E82B-5720-9305-4763-A3AE8379698F}"/>
              </a:ext>
            </a:extLst>
          </p:cNvPr>
          <p:cNvSpPr>
            <a:spLocks noGrp="1"/>
          </p:cNvSpPr>
          <p:nvPr/>
        </p:nvSpPr>
        <p:spPr>
          <a:xfrm>
            <a:off x="609600" y="1000125"/>
            <a:ext cx="2952750" cy="647700"/>
          </a:xfrm>
          <a:prstGeom prst="rect">
            <a:avLst/>
          </a:prstGeom>
          <a:noFill/>
          <a:ln w="0">
            <a:noFill/>
          </a:ln>
        </p:spPr>
        <p:txBody>
          <a:bodyPr lIns="0" tIns="0" rIns="0" bIns="0" anchor="t"/>
          <a:lstStyle>
            <a:defPPr>
              <a:defRPr sz="2100" b="1">
                <a:solidFill>
                  <a:srgbClr val="007F83"/>
                </a:solidFill>
                <a:latin typeface="Aptos"/>
                <a:ea typeface="Aptos"/>
                <a:cs typeface="Aptos"/>
              </a:defRPr>
            </a:defPPr>
          </a:lstStyle>
          <a:p>
            <a:pPr>
              <a:defRPr sz="2100" b="1">
                <a:solidFill>
                  <a:srgbClr val="007F83"/>
                </a:solidFill>
                <a:latin typeface="Aptos"/>
                <a:ea typeface="Aptos"/>
                <a:cs typeface="Aptos"/>
              </a:defRPr>
            </a:pPr>
            <a:r>
              <a:rPr lang="en-US" sz="2100" b="1" dirty="0">
                <a:solidFill>
                  <a:srgbClr val="007F83"/>
                </a:solidFill>
                <a:latin typeface="Aptos"/>
                <a:ea typeface="Aptos"/>
                <a:cs typeface="Aptos"/>
              </a:rPr>
              <a:t>Team project</a:t>
            </a:r>
            <a:endParaRPr sz="2100" b="1" dirty="0">
              <a:solidFill>
                <a:srgbClr val="007F83"/>
              </a:solidFill>
              <a:latin typeface="Aptos"/>
              <a:ea typeface="Aptos"/>
              <a:cs typeface="Aptos"/>
            </a:endParaRPr>
          </a:p>
        </p:txBody>
      </p:sp>
      <p:sp>
        <p:nvSpPr>
          <p:cNvPr id="13" name="직사각형 12">
            <a:extLst>
              <a:ext uri="{FF2B5EF4-FFF2-40B4-BE49-F238E27FC236}">
                <a16:creationId xmlns:a16="http://schemas.microsoft.com/office/drawing/2014/main" id="{F62FFACD-5A03-A907-A355-F027E5EE94E7}"/>
              </a:ext>
            </a:extLst>
          </p:cNvPr>
          <p:cNvSpPr>
            <a:spLocks noGrp="1"/>
          </p:cNvSpPr>
          <p:nvPr/>
        </p:nvSpPr>
        <p:spPr>
          <a:xfrm>
            <a:off x="3781425" y="1000125"/>
            <a:ext cx="7715250" cy="85725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lang="en-US" sz="1950" dirty="0">
                <a:solidFill>
                  <a:srgbClr val="183348"/>
                </a:solidFill>
                <a:latin typeface="Aptos"/>
                <a:ea typeface="Aptos"/>
                <a:cs typeface="Aptos"/>
              </a:rPr>
              <a:t>You can make a team (max 3). </a:t>
            </a:r>
            <a:endParaRPr lang="en-US" sz="1950" b="0" dirty="0">
              <a:solidFill>
                <a:srgbClr val="183348"/>
              </a:solidFill>
              <a:latin typeface="Aptos"/>
              <a:ea typeface="Aptos"/>
              <a:cs typeface="Aptos"/>
            </a:endParaRPr>
          </a:p>
        </p:txBody>
      </p:sp>
    </p:spTree>
    <p:extLst>
      <p:ext uri="{BB962C8B-B14F-4D97-AF65-F5344CB8AC3E}">
        <p14:creationId xmlns:p14="http://schemas.microsoft.com/office/powerpoint/2010/main" val="1682543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84B2834E-090D-47BB-95FC-E3B02F06E3A0}"/>
              </a:ext>
            </a:extLst>
          </p:cNvPr>
          <p:cNvSpPr>
            <a:spLocks noGrp="1"/>
          </p:cNvSpPr>
          <p:nvPr/>
        </p:nvSpPr>
        <p:spPr>
          <a:xfrm>
            <a:off x="609600" y="419100"/>
            <a:ext cx="10953750" cy="990600"/>
          </a:xfrm>
          <a:prstGeom prst="rect">
            <a:avLst/>
          </a:prstGeom>
          <a:noFill/>
          <a:ln w="0">
            <a:noFill/>
          </a:ln>
        </p:spPr>
        <p:txBody>
          <a:bodyPr lIns="0" tIns="0" rIns="0" bIns="0" anchor="t"/>
          <a:lstStyle>
            <a:defPPr>
              <a:defRPr sz="3300" b="1">
                <a:solidFill>
                  <a:srgbClr val="183348"/>
                </a:solidFill>
                <a:latin typeface="Aptos"/>
                <a:ea typeface="Aptos"/>
                <a:cs typeface="Aptos"/>
              </a:defRPr>
            </a:defPPr>
          </a:lstStyle>
          <a:p>
            <a:pPr>
              <a:defRPr sz="3300" b="1">
                <a:solidFill>
                  <a:srgbClr val="183348"/>
                </a:solidFill>
                <a:latin typeface="Aptos"/>
                <a:ea typeface="Aptos"/>
                <a:cs typeface="Aptos"/>
              </a:defRPr>
            </a:pPr>
            <a:r>
              <a:rPr sz="3300" b="1">
                <a:solidFill>
                  <a:srgbClr val="183348"/>
                </a:solidFill>
                <a:latin typeface="Aptos"/>
                <a:ea typeface="Aptos"/>
                <a:cs typeface="Aptos"/>
              </a:rPr>
              <a:t>References</a:t>
            </a:r>
          </a:p>
        </p:txBody>
      </p:sp>
      <p:sp>
        <p:nvSpPr>
          <p:cNvPr id="2" name="직사각형 1">
            <a:extLst>
              <a:ext uri="{FF2B5EF4-FFF2-40B4-BE49-F238E27FC236}">
                <a16:creationId xmlns:a16="http://schemas.microsoft.com/office/drawing/2014/main" id="{8A7D1F12-A3FF-4FD2-904B-D81EC19066A7}"/>
              </a:ext>
            </a:extLst>
          </p:cNvPr>
          <p:cNvSpPr>
            <a:spLocks noGrp="1"/>
          </p:cNvSpPr>
          <p:nvPr/>
        </p:nvSpPr>
        <p:spPr>
          <a:xfrm>
            <a:off x="11191875" y="6419850"/>
            <a:ext cx="428625" cy="247650"/>
          </a:xfrm>
          <a:prstGeom prst="rect">
            <a:avLst/>
          </a:prstGeom>
          <a:noFill/>
          <a:ln w="0">
            <a:noFill/>
          </a:ln>
        </p:spPr>
        <p:txBody>
          <a:bodyPr lIns="0" tIns="0" rIns="0" bIns="0" anchor="t"/>
          <a:lstStyle>
            <a:defPPr>
              <a:defRPr sz="1350" b="0">
                <a:solidFill>
                  <a:srgbClr val="526879"/>
                </a:solidFill>
                <a:latin typeface="Aptos"/>
                <a:ea typeface="Aptos"/>
                <a:cs typeface="Aptos"/>
              </a:defRPr>
            </a:defPPr>
          </a:lstStyle>
          <a:p>
            <a:pPr>
              <a:defRPr sz="1350" b="0">
                <a:solidFill>
                  <a:srgbClr val="526879"/>
                </a:solidFill>
                <a:latin typeface="Aptos"/>
                <a:ea typeface="Aptos"/>
                <a:cs typeface="Aptos"/>
              </a:defRPr>
            </a:pPr>
            <a:r>
              <a:rPr sz="1350" b="0">
                <a:solidFill>
                  <a:srgbClr val="526879"/>
                </a:solidFill>
                <a:latin typeface="Aptos"/>
                <a:ea typeface="Aptos"/>
                <a:cs typeface="Aptos"/>
              </a:rPr>
              <a:t>19</a:t>
            </a:r>
          </a:p>
        </p:txBody>
      </p:sp>
      <p:sp>
        <p:nvSpPr>
          <p:cNvPr id="3" name="직사각형 2">
            <a:extLst>
              <a:ext uri="{FF2B5EF4-FFF2-40B4-BE49-F238E27FC236}">
                <a16:creationId xmlns:a16="http://schemas.microsoft.com/office/drawing/2014/main" id="{791D5FE3-D210-430F-B9BA-D5304D91F3EC}"/>
              </a:ext>
            </a:extLst>
          </p:cNvPr>
          <p:cNvSpPr>
            <a:spLocks noGrp="1"/>
          </p:cNvSpPr>
          <p:nvPr/>
        </p:nvSpPr>
        <p:spPr>
          <a:xfrm>
            <a:off x="609600" y="1428750"/>
            <a:ext cx="10858500" cy="838200"/>
          </a:xfrm>
          <a:prstGeom prst="rect">
            <a:avLst/>
          </a:prstGeom>
          <a:noFill/>
          <a:ln w="0">
            <a:noFill/>
          </a:ln>
        </p:spPr>
        <p:txBody>
          <a:bodyPr lIns="0" tIns="0" rIns="0" bIns="0" anchor="t"/>
          <a:lstStyle>
            <a:defPPr>
              <a:defRPr sz="1950" b="0">
                <a:solidFill>
                  <a:srgbClr val="183348"/>
                </a:solidFill>
                <a:latin typeface="Aptos"/>
                <a:ea typeface="Aptos"/>
                <a:cs typeface="Aptos"/>
              </a:defRPr>
            </a:defPPr>
          </a:lstStyle>
          <a:p>
            <a:pPr>
              <a:defRPr sz="1950" b="0">
                <a:solidFill>
                  <a:srgbClr val="183348"/>
                </a:solidFill>
                <a:latin typeface="Aptos"/>
                <a:ea typeface="Aptos"/>
                <a:cs typeface="Aptos"/>
              </a:defRPr>
            </a:pPr>
            <a:r>
              <a:rPr sz="1950" b="0">
                <a:solidFill>
                  <a:srgbClr val="183348"/>
                </a:solidFill>
                <a:latin typeface="Aptos"/>
                <a:ea typeface="Aptos"/>
                <a:cs typeface="Aptos"/>
              </a:rPr>
              <a:t>Dataset documentation, research papers and access conditions</a:t>
            </a:r>
          </a:p>
        </p:txBody>
      </p:sp>
      <p:sp>
        <p:nvSpPr>
          <p:cNvPr id="4" name="직사각형 3">
            <a:extLst>
              <a:ext uri="{FF2B5EF4-FFF2-40B4-BE49-F238E27FC236}">
                <a16:creationId xmlns:a16="http://schemas.microsoft.com/office/drawing/2014/main" id="{8A2BA423-1C5D-4BFE-BBFF-1B7B29632B5C}"/>
              </a:ext>
            </a:extLst>
          </p:cNvPr>
          <p:cNvSpPr>
            <a:spLocks noGrp="1"/>
          </p:cNvSpPr>
          <p:nvPr/>
        </p:nvSpPr>
        <p:spPr>
          <a:xfrm>
            <a:off x="609600" y="2543175"/>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3"/>
              </a:rPr>
              <a:t>Foursquare datasets and citation guidance</a:t>
            </a:r>
          </a:p>
        </p:txBody>
      </p:sp>
      <p:sp>
        <p:nvSpPr>
          <p:cNvPr id="5" name="직사각형 4">
            <a:extLst>
              <a:ext uri="{FF2B5EF4-FFF2-40B4-BE49-F238E27FC236}">
                <a16:creationId xmlns:a16="http://schemas.microsoft.com/office/drawing/2014/main" id="{745105F6-5F97-4A80-A9F7-F5C70214497A}"/>
              </a:ext>
            </a:extLst>
          </p:cNvPr>
          <p:cNvSpPr>
            <a:spLocks noGrp="1"/>
          </p:cNvSpPr>
          <p:nvPr/>
        </p:nvSpPr>
        <p:spPr>
          <a:xfrm>
            <a:off x="609600" y="2952750"/>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4"/>
              </a:rPr>
              <a:t>Celma: Last.fm 1K and 360K source pages (availability check)</a:t>
            </a:r>
          </a:p>
        </p:txBody>
      </p:sp>
      <p:sp>
        <p:nvSpPr>
          <p:cNvPr id="6" name="직사각형 5">
            <a:extLst>
              <a:ext uri="{FF2B5EF4-FFF2-40B4-BE49-F238E27FC236}">
                <a16:creationId xmlns:a16="http://schemas.microsoft.com/office/drawing/2014/main" id="{2FF31006-E876-443C-856C-801EC4A21720}"/>
              </a:ext>
            </a:extLst>
          </p:cNvPr>
          <p:cNvSpPr>
            <a:spLocks noGrp="1"/>
          </p:cNvSpPr>
          <p:nvPr/>
        </p:nvSpPr>
        <p:spPr>
          <a:xfrm>
            <a:off x="609600" y="3362325"/>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5"/>
              </a:rPr>
              <a:t>Keung et al. (2020): Multilingual Amazon Reviews Corpus</a:t>
            </a:r>
          </a:p>
        </p:txBody>
      </p:sp>
      <p:sp>
        <p:nvSpPr>
          <p:cNvPr id="7" name="직사각형 6">
            <a:extLst>
              <a:ext uri="{FF2B5EF4-FFF2-40B4-BE49-F238E27FC236}">
                <a16:creationId xmlns:a16="http://schemas.microsoft.com/office/drawing/2014/main" id="{3C605905-5F25-478A-83B6-069FE29213E5}"/>
              </a:ext>
            </a:extLst>
          </p:cNvPr>
          <p:cNvSpPr>
            <a:spLocks noGrp="1"/>
          </p:cNvSpPr>
          <p:nvPr/>
        </p:nvSpPr>
        <p:spPr>
          <a:xfrm>
            <a:off x="609600" y="3771900"/>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6"/>
              </a:rPr>
              <a:t>MARC access status and historical terms</a:t>
            </a:r>
          </a:p>
        </p:txBody>
      </p:sp>
      <p:sp>
        <p:nvSpPr>
          <p:cNvPr id="8" name="직사각형 7">
            <a:extLst>
              <a:ext uri="{FF2B5EF4-FFF2-40B4-BE49-F238E27FC236}">
                <a16:creationId xmlns:a16="http://schemas.microsoft.com/office/drawing/2014/main" id="{6A0A1D4D-F99C-413C-80DE-19D52FF77F28}"/>
              </a:ext>
            </a:extLst>
          </p:cNvPr>
          <p:cNvSpPr>
            <a:spLocks noGrp="1"/>
          </p:cNvSpPr>
          <p:nvPr/>
        </p:nvSpPr>
        <p:spPr>
          <a:xfrm>
            <a:off x="609600" y="4181475"/>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7"/>
              </a:rPr>
              <a:t>Goldenberg &amp; Levin (2021): Booking.com MDT and terms</a:t>
            </a:r>
          </a:p>
        </p:txBody>
      </p:sp>
      <p:sp>
        <p:nvSpPr>
          <p:cNvPr id="9" name="직사각형 8">
            <a:extLst>
              <a:ext uri="{FF2B5EF4-FFF2-40B4-BE49-F238E27FC236}">
                <a16:creationId xmlns:a16="http://schemas.microsoft.com/office/drawing/2014/main" id="{E802BB45-E723-42D3-BA5A-0052E9C31D02}"/>
              </a:ext>
            </a:extLst>
          </p:cNvPr>
          <p:cNvSpPr>
            <a:spLocks noGrp="1"/>
          </p:cNvSpPr>
          <p:nvPr/>
        </p:nvSpPr>
        <p:spPr>
          <a:xfrm>
            <a:off x="609600" y="4591050"/>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8"/>
              </a:rPr>
              <a:t>Cho et al. (2011): Gowalla and Brightkite at SNAP</a:t>
            </a:r>
          </a:p>
        </p:txBody>
      </p:sp>
      <p:sp>
        <p:nvSpPr>
          <p:cNvPr id="10" name="직사각형 9">
            <a:extLst>
              <a:ext uri="{FF2B5EF4-FFF2-40B4-BE49-F238E27FC236}">
                <a16:creationId xmlns:a16="http://schemas.microsoft.com/office/drawing/2014/main" id="{A813E0D7-025A-415D-A734-5E7A2166F518}"/>
              </a:ext>
            </a:extLst>
          </p:cNvPr>
          <p:cNvSpPr>
            <a:spLocks noGrp="1"/>
          </p:cNvSpPr>
          <p:nvPr/>
        </p:nvSpPr>
        <p:spPr>
          <a:xfrm>
            <a:off x="609600" y="5000625"/>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9"/>
              </a:rPr>
              <a:t>World Values Survey: Wave 7 documentation</a:t>
            </a:r>
          </a:p>
        </p:txBody>
      </p:sp>
      <p:sp>
        <p:nvSpPr>
          <p:cNvPr id="11" name="직사각형 10">
            <a:extLst>
              <a:ext uri="{FF2B5EF4-FFF2-40B4-BE49-F238E27FC236}">
                <a16:creationId xmlns:a16="http://schemas.microsoft.com/office/drawing/2014/main" id="{6154A40C-C94C-48EE-A12D-85F0A590CDF1}"/>
              </a:ext>
            </a:extLst>
          </p:cNvPr>
          <p:cNvSpPr>
            <a:spLocks noGrp="1"/>
          </p:cNvSpPr>
          <p:nvPr/>
        </p:nvSpPr>
        <p:spPr>
          <a:xfrm>
            <a:off x="609600" y="5410200"/>
            <a:ext cx="108585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10"/>
              </a:rPr>
              <a:t>Rendle et al. (2009): Bayesian Personalized Ranking</a:t>
            </a:r>
          </a:p>
        </p:txBody>
      </p:sp>
      <p:sp>
        <p:nvSpPr>
          <p:cNvPr id="12" name="직사각형 11">
            <a:extLst>
              <a:ext uri="{FF2B5EF4-FFF2-40B4-BE49-F238E27FC236}">
                <a16:creationId xmlns:a16="http://schemas.microsoft.com/office/drawing/2014/main" id="{88466783-CAF3-4830-A706-94EE3D682BEA}"/>
              </a:ext>
            </a:extLst>
          </p:cNvPr>
          <p:cNvSpPr>
            <a:spLocks noGrp="1"/>
          </p:cNvSpPr>
          <p:nvPr/>
        </p:nvSpPr>
        <p:spPr>
          <a:xfrm>
            <a:off x="9620250" y="4591050"/>
            <a:ext cx="1905000" cy="285750"/>
          </a:xfrm>
          <a:prstGeom prst="rect">
            <a:avLst/>
          </a:prstGeom>
          <a:noFill/>
          <a:ln w="0">
            <a:noFill/>
          </a:ln>
        </p:spPr>
        <p:txBody>
          <a:bodyPr lIns="0" tIns="0" rIns="0" bIns="0" anchor="t"/>
          <a:lstStyle>
            <a:defPPr>
              <a:defRPr sz="1650" b="0">
                <a:solidFill>
                  <a:srgbClr val="007F83"/>
                </a:solidFill>
                <a:latin typeface="Aptos"/>
                <a:ea typeface="Aptos"/>
                <a:cs typeface="Aptos"/>
              </a:defRPr>
            </a:defPPr>
          </a:lstStyle>
          <a:p>
            <a:pPr>
              <a:defRPr sz="1650" b="0">
                <a:solidFill>
                  <a:srgbClr val="007F83"/>
                </a:solidFill>
                <a:latin typeface="Aptos"/>
                <a:ea typeface="Aptos"/>
                <a:cs typeface="Aptos"/>
              </a:defRPr>
            </a:pPr>
            <a:r>
              <a:rPr>
                <a:hlinkClick r:id="rId11"/>
              </a:rPr>
              <a:t>Brightkite</a:t>
            </a:r>
          </a:p>
        </p:txBody>
      </p:sp>
    </p:spTree>
    <p:extLst>
      <p:ext uri="{BB962C8B-B14F-4D97-AF65-F5344CB8AC3E}">
        <p14:creationId xmlns:p14="http://schemas.microsoft.com/office/powerpoint/2010/main" val="16117644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2407</Words>
  <Application>Microsoft Office PowerPoint</Application>
  <DocSecurity>0</DocSecurity>
  <PresentationFormat>와이드스크린</PresentationFormat>
  <Paragraphs>272</Paragraphs>
  <Slides>19</Slides>
  <Notes>19</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19</vt:i4>
      </vt:variant>
    </vt:vector>
  </HeadingPairs>
  <TitlesOfParts>
    <vt:vector size="21" baseType="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CAU</cp:lastModifiedBy>
  <cp:revision>2</cp:revision>
  <dcterms:created xsi:type="dcterms:W3CDTF">2026-10-12T13:40:15Z</dcterms:created>
  <dcterms:modified xsi:type="dcterms:W3CDTF">2026-10-13T07:47:04Z</dcterms:modified>
</cp:coreProperties>
</file>